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0"/>
  </p:notesMasterIdLst>
  <p:sldIdLst>
    <p:sldId id="715" r:id="rId2"/>
    <p:sldId id="713" r:id="rId3"/>
    <p:sldId id="717" r:id="rId4"/>
    <p:sldId id="720" r:id="rId5"/>
    <p:sldId id="719" r:id="rId6"/>
    <p:sldId id="721" r:id="rId7"/>
    <p:sldId id="722" r:id="rId8"/>
    <p:sldId id="724" r:id="rId9"/>
    <p:sldId id="726" r:id="rId10"/>
    <p:sldId id="725" r:id="rId11"/>
    <p:sldId id="676" r:id="rId12"/>
    <p:sldId id="716" r:id="rId13"/>
    <p:sldId id="728" r:id="rId14"/>
    <p:sldId id="723" r:id="rId15"/>
    <p:sldId id="727" r:id="rId16"/>
    <p:sldId id="732" r:id="rId17"/>
    <p:sldId id="711" r:id="rId18"/>
    <p:sldId id="303"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LL" initials="D" lastIdx="1" clrIdx="0">
    <p:extLst>
      <p:ext uri="{19B8F6BF-5375-455C-9EA6-DF929625EA0E}">
        <p15:presenceInfo xmlns:p15="http://schemas.microsoft.com/office/powerpoint/2012/main" userId="DELL"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68" d="100"/>
          <a:sy n="68" d="100"/>
        </p:scale>
        <p:origin x="720" y="60"/>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12-12-2025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a:solidFill>
                  <a:schemeClr val="bg2">
                    <a:lumMod val="75000"/>
                  </a:schemeClr>
                </a:solidFill>
              </a:rPr>
              <a:t>CONFIDENTIAL</a:t>
            </a:r>
            <a:r>
              <a:rPr lang="en-US" sz="110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ngocbach.com/cach-viet-introduction-trong-writing-ielts-task-2/" TargetMode="External"/><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hyperlink" Target="https://storage.googleapis.com/dabfqtslemcine/steps-in-machine-learning-model-development-and-deployment.html" TargetMode="External"/><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3.png"/><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7.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764302" y="2743200"/>
            <a:ext cx="8229600" cy="1828800"/>
          </a:xfrm>
          <a:prstGeom prst="rect">
            <a:avLst/>
          </a:prstGeom>
          <a:noFill/>
        </p:spPr>
        <p:txBody>
          <a:bodyPr wrap="none">
            <a:spAutoFit/>
          </a:bodyPr>
          <a:lstStyle/>
          <a:p>
            <a:pPr>
              <a:defRPr sz="4000" b="1">
                <a:solidFill>
                  <a:srgbClr val="FFFFFF"/>
                </a:solidFill>
              </a:defRPr>
            </a:pPr>
            <a:r>
              <a:t>Fraud Detection Using Machine Learning</a:t>
            </a:r>
          </a:p>
          <a:p>
            <a:pPr>
              <a:defRPr sz="2600">
                <a:solidFill>
                  <a:srgbClr val="DCDCDC"/>
                </a:solidFill>
              </a:defRPr>
            </a:pPr>
            <a:r>
              <a:t>Presented by: Ashish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FE0341-7A64-4399-8C22-DCDD15CF2D54}"/>
              </a:ext>
            </a:extLst>
          </p:cNvPr>
          <p:cNvSpPr/>
          <p:nvPr/>
        </p:nvSpPr>
        <p:spPr>
          <a:xfrm>
            <a:off x="637240" y="2652194"/>
            <a:ext cx="11554760" cy="2677656"/>
          </a:xfrm>
          <a:prstGeom prst="rect">
            <a:avLst/>
          </a:prstGeom>
        </p:spPr>
        <p:txBody>
          <a:bodyPr wrap="square">
            <a:spAutoFit/>
          </a:bodyPr>
          <a:lstStyle/>
          <a:p>
            <a:r>
              <a:rPr lang="en-US" sz="2400">
                <a:solidFill>
                  <a:schemeClr val="bg2">
                    <a:lumMod val="10000"/>
                  </a:schemeClr>
                </a:solidFill>
              </a:rPr>
              <a:t>Financial fraud is a major threat, causing significant losses and eroding trust. This project leverages machine learning to develop a fraud detection model, enabling financial institutions to identify and prevent fraud in real-time.</a:t>
            </a:r>
          </a:p>
          <a:p>
            <a:endParaRPr lang="en-US" sz="2400">
              <a:solidFill>
                <a:schemeClr val="bg2">
                  <a:lumMod val="10000"/>
                </a:schemeClr>
              </a:solidFill>
            </a:endParaRPr>
          </a:p>
          <a:p>
            <a:r>
              <a:rPr lang="en-US" sz="2400">
                <a:solidFill>
                  <a:schemeClr val="bg2">
                    <a:lumMod val="10000"/>
                  </a:schemeClr>
                </a:solidFill>
              </a:rPr>
              <a:t>By accurately distinguishing between legitimate and fraudulent transactions, this model safeguards businesses and customers from financial losses and protects institutional reputation.</a:t>
            </a:r>
            <a:endParaRPr lang="en-IN" sz="2400">
              <a:solidFill>
                <a:schemeClr val="bg2">
                  <a:lumMod val="10000"/>
                </a:schemeClr>
              </a:solidFill>
            </a:endParaRPr>
          </a:p>
        </p:txBody>
      </p:sp>
      <p:pic>
        <p:nvPicPr>
          <p:cNvPr id="18" name="Picture 17">
            <a:extLst>
              <a:ext uri="{FF2B5EF4-FFF2-40B4-BE49-F238E27FC236}">
                <a16:creationId xmlns:a16="http://schemas.microsoft.com/office/drawing/2014/main" id="{0D66A081-C4FA-4C6C-944B-9C79F3549FA9}"/>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3593433" y="320842"/>
            <a:ext cx="5646820" cy="1985350"/>
          </a:xfrm>
          <a:prstGeom prst="rect">
            <a:avLst/>
          </a:prstGeom>
        </p:spPr>
      </p:pic>
    </p:spTree>
    <p:extLst>
      <p:ext uri="{BB962C8B-B14F-4D97-AF65-F5344CB8AC3E}">
        <p14:creationId xmlns:p14="http://schemas.microsoft.com/office/powerpoint/2010/main" val="1344420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TextBox 3"/>
          <p:cNvSpPr txBox="1"/>
          <p:nvPr/>
        </p:nvSpPr>
        <p:spPr>
          <a:xfrm>
            <a:off x="1397760" y="428178"/>
            <a:ext cx="5722016" cy="5509200"/>
          </a:xfrm>
          <a:prstGeom prst="rect">
            <a:avLst/>
          </a:prstGeom>
          <a:noFill/>
        </p:spPr>
        <p:txBody>
          <a:bodyPr wrap="none">
            <a:spAutoFit/>
          </a:bodyPr>
          <a:lstStyle/>
          <a:p>
            <a:pPr>
              <a:defRPr sz="3200" b="1">
                <a:solidFill>
                  <a:srgbClr val="FFFFFF"/>
                </a:solidFill>
              </a:defRPr>
            </a:pPr>
            <a:r>
              <a:rPr lang="en-IN">
                <a:solidFill>
                  <a:schemeClr val="bg2">
                    <a:lumMod val="10000"/>
                  </a:schemeClr>
                </a:solidFill>
              </a:rPr>
              <a:t>Value:</a:t>
            </a:r>
          </a:p>
          <a:p>
            <a:pPr>
              <a:defRPr sz="3200" b="1">
                <a:solidFill>
                  <a:srgbClr val="FFFFFF"/>
                </a:solidFill>
              </a:defRPr>
            </a:pPr>
            <a:r>
              <a:rPr lang="en-IN">
                <a:solidFill>
                  <a:schemeClr val="bg2">
                    <a:lumMod val="10000"/>
                  </a:schemeClr>
                </a:solidFill>
              </a:rPr>
              <a:t>• Reduce financial loss</a:t>
            </a:r>
          </a:p>
          <a:p>
            <a:pPr>
              <a:defRPr sz="3200" b="1">
                <a:solidFill>
                  <a:srgbClr val="FFFFFF"/>
                </a:solidFill>
              </a:defRPr>
            </a:pPr>
            <a:r>
              <a:rPr lang="en-IN">
                <a:solidFill>
                  <a:schemeClr val="bg2">
                    <a:lumMod val="10000"/>
                  </a:schemeClr>
                </a:solidFill>
              </a:rPr>
              <a:t>• Improve fraud monitoring</a:t>
            </a:r>
          </a:p>
          <a:p>
            <a:pPr>
              <a:defRPr sz="3200" b="1">
                <a:solidFill>
                  <a:srgbClr val="FFFFFF"/>
                </a:solidFill>
              </a:defRPr>
            </a:pPr>
            <a:r>
              <a:rPr lang="en-IN">
                <a:solidFill>
                  <a:schemeClr val="bg2">
                    <a:lumMod val="10000"/>
                  </a:schemeClr>
                </a:solidFill>
              </a:rPr>
              <a:t>• Strengthen transaction safety</a:t>
            </a:r>
          </a:p>
          <a:p>
            <a:pPr>
              <a:defRPr sz="3200" b="1">
                <a:solidFill>
                  <a:srgbClr val="FFFFFF"/>
                </a:solidFill>
              </a:defRPr>
            </a:pPr>
            <a:endParaRPr lang="en-IN">
              <a:solidFill>
                <a:schemeClr val="bg2">
                  <a:lumMod val="10000"/>
                </a:schemeClr>
              </a:solidFill>
            </a:endParaRPr>
          </a:p>
          <a:p>
            <a:pPr>
              <a:defRPr sz="3200" b="1">
                <a:solidFill>
                  <a:srgbClr val="FFFFFF"/>
                </a:solidFill>
              </a:defRPr>
            </a:pPr>
            <a:r>
              <a:rPr lang="en-IN">
                <a:solidFill>
                  <a:schemeClr val="bg2">
                    <a:lumMod val="10000"/>
                  </a:schemeClr>
                </a:solidFill>
              </a:rPr>
              <a:t>Objectives:</a:t>
            </a:r>
          </a:p>
          <a:p>
            <a:pPr>
              <a:defRPr sz="3200" b="1">
                <a:solidFill>
                  <a:srgbClr val="FFFFFF"/>
                </a:solidFill>
              </a:defRPr>
            </a:pPr>
            <a:r>
              <a:rPr lang="en-IN">
                <a:solidFill>
                  <a:schemeClr val="bg2">
                    <a:lumMod val="10000"/>
                  </a:schemeClr>
                </a:solidFill>
              </a:rPr>
              <a:t>• Perform EDA</a:t>
            </a:r>
          </a:p>
          <a:p>
            <a:pPr>
              <a:defRPr sz="3200" b="1">
                <a:solidFill>
                  <a:srgbClr val="FFFFFF"/>
                </a:solidFill>
              </a:defRPr>
            </a:pPr>
            <a:r>
              <a:rPr lang="en-IN">
                <a:solidFill>
                  <a:schemeClr val="bg2">
                    <a:lumMod val="10000"/>
                  </a:schemeClr>
                </a:solidFill>
              </a:rPr>
              <a:t>• Engineer features</a:t>
            </a:r>
          </a:p>
          <a:p>
            <a:pPr>
              <a:defRPr sz="3200" b="1">
                <a:solidFill>
                  <a:srgbClr val="FFFFFF"/>
                </a:solidFill>
              </a:defRPr>
            </a:pPr>
            <a:r>
              <a:rPr lang="en-IN">
                <a:solidFill>
                  <a:schemeClr val="bg2">
                    <a:lumMod val="10000"/>
                  </a:schemeClr>
                </a:solidFill>
              </a:rPr>
              <a:t>• Handle imbalance with SMOTE</a:t>
            </a:r>
          </a:p>
          <a:p>
            <a:pPr>
              <a:defRPr sz="3200" b="1">
                <a:solidFill>
                  <a:srgbClr val="FFFFFF"/>
                </a:solidFill>
              </a:defRPr>
            </a:pPr>
            <a:r>
              <a:rPr lang="en-IN">
                <a:solidFill>
                  <a:schemeClr val="bg2">
                    <a:lumMod val="10000"/>
                  </a:schemeClr>
                </a:solidFill>
              </a:rPr>
              <a:t>• Train ML models</a:t>
            </a:r>
          </a:p>
          <a:p>
            <a:pPr>
              <a:defRPr sz="3200" b="1">
                <a:solidFill>
                  <a:srgbClr val="FFFFFF"/>
                </a:solidFill>
              </a:defRPr>
            </a:pPr>
            <a:r>
              <a:rPr lang="en-IN">
                <a:solidFill>
                  <a:schemeClr val="bg2">
                    <a:lumMod val="10000"/>
                  </a:schemeClr>
                </a:solidFill>
              </a:rPr>
              <a:t>• Evaluate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4" name="TextBox 3"/>
          <p:cNvSpPr txBox="1"/>
          <p:nvPr/>
        </p:nvSpPr>
        <p:spPr>
          <a:xfrm>
            <a:off x="457200" y="1371600"/>
            <a:ext cx="8229600" cy="914400"/>
          </a:xfrm>
          <a:prstGeom prst="rect">
            <a:avLst/>
          </a:prstGeom>
          <a:noFill/>
        </p:spPr>
        <p:txBody>
          <a:bodyPr wrap="none">
            <a:spAutoFit/>
          </a:bodyPr>
          <a:lstStyle/>
          <a:p>
            <a:pPr>
              <a:defRPr sz="3200" b="1">
                <a:solidFill>
                  <a:srgbClr val="FFFFFF"/>
                </a:solidFill>
              </a:defRPr>
            </a:pPr>
            <a:r>
              <a:t>Workflow</a:t>
            </a:r>
          </a:p>
        </p:txBody>
      </p:sp>
      <p:sp>
        <p:nvSpPr>
          <p:cNvPr id="5" name="TextBox 4"/>
          <p:cNvSpPr txBox="1"/>
          <p:nvPr/>
        </p:nvSpPr>
        <p:spPr>
          <a:xfrm>
            <a:off x="172447" y="2111399"/>
            <a:ext cx="3072572" cy="3139321"/>
          </a:xfrm>
          <a:prstGeom prst="rect">
            <a:avLst/>
          </a:prstGeom>
          <a:noFill/>
        </p:spPr>
        <p:txBody>
          <a:bodyPr wrap="none">
            <a:spAutoFit/>
          </a:bodyPr>
          <a:lstStyle/>
          <a:p>
            <a:endParaRPr/>
          </a:p>
          <a:p>
            <a:pPr>
              <a:defRPr sz="2000">
                <a:solidFill>
                  <a:srgbClr val="FFFFFF"/>
                </a:solidFill>
              </a:defRPr>
            </a:pPr>
            <a:r>
              <a:t>1. Data </a:t>
            </a:r>
            <a:r>
              <a:rPr lang="en-US"/>
              <a:t>Collection</a:t>
            </a:r>
            <a:endParaRPr/>
          </a:p>
          <a:p>
            <a:pPr>
              <a:defRPr sz="2000">
                <a:solidFill>
                  <a:srgbClr val="FFFFFF"/>
                </a:solidFill>
              </a:defRPr>
            </a:pPr>
            <a:r>
              <a:t>2. Exploratory Data Analysis</a:t>
            </a:r>
          </a:p>
          <a:p>
            <a:pPr>
              <a:defRPr sz="2000">
                <a:solidFill>
                  <a:srgbClr val="FFFFFF"/>
                </a:solidFill>
              </a:defRPr>
            </a:pPr>
            <a:r>
              <a:t>3. Feature Engineering</a:t>
            </a:r>
          </a:p>
          <a:p>
            <a:pPr>
              <a:defRPr sz="2000">
                <a:solidFill>
                  <a:srgbClr val="FFFFFF"/>
                </a:solidFill>
              </a:defRPr>
            </a:pPr>
            <a:r>
              <a:t>4. Scaling &amp; Encoding</a:t>
            </a:r>
          </a:p>
          <a:p>
            <a:pPr>
              <a:defRPr sz="2000">
                <a:solidFill>
                  <a:srgbClr val="FFFFFF"/>
                </a:solidFill>
              </a:defRPr>
            </a:pPr>
            <a:r>
              <a:t>5. Train–Test Split</a:t>
            </a:r>
          </a:p>
          <a:p>
            <a:pPr>
              <a:defRPr sz="2000">
                <a:solidFill>
                  <a:srgbClr val="FFFFFF"/>
                </a:solidFill>
              </a:defRPr>
            </a:pPr>
            <a:r>
              <a:t>6. SMOTE Oversampling</a:t>
            </a:r>
          </a:p>
          <a:p>
            <a:pPr>
              <a:defRPr sz="2000">
                <a:solidFill>
                  <a:srgbClr val="FFFFFF"/>
                </a:solidFill>
              </a:defRPr>
            </a:pPr>
            <a:r>
              <a:t>7. Model Training</a:t>
            </a:r>
          </a:p>
          <a:p>
            <a:pPr>
              <a:defRPr sz="2000">
                <a:solidFill>
                  <a:srgbClr val="FFFFFF"/>
                </a:solidFill>
              </a:defRPr>
            </a:pPr>
            <a:r>
              <a:t>8. Evaluation</a:t>
            </a:r>
            <a:endParaRPr lang="en-US"/>
          </a:p>
          <a:p>
            <a:pPr>
              <a:defRPr sz="2000">
                <a:solidFill>
                  <a:srgbClr val="FFFFFF"/>
                </a:solidFill>
              </a:defRPr>
            </a:pPr>
            <a:r>
              <a:rPr lang="en-US"/>
              <a:t>9</a:t>
            </a:r>
            <a:r>
              <a:rPr lang="en-IN"/>
              <a:t>. Model Deployment</a:t>
            </a:r>
            <a:endParaRPr/>
          </a:p>
        </p:txBody>
      </p:sp>
      <p:pic>
        <p:nvPicPr>
          <p:cNvPr id="10" name="Content Placeholder 9">
            <a:extLst>
              <a:ext uri="{FF2B5EF4-FFF2-40B4-BE49-F238E27FC236}">
                <a16:creationId xmlns:a16="http://schemas.microsoft.com/office/drawing/2014/main" id="{8BF476EF-EA1E-4DE1-83A0-8165E8A9846F}"/>
              </a:ext>
            </a:extLst>
          </p:cNvPr>
          <p:cNvPicPr>
            <a:picLocks noGrp="1" noChangeAspect="1"/>
          </p:cNvPicPr>
          <p:nvPr>
            <p:ph idx="1"/>
          </p:nvPr>
        </p:nvPicPr>
        <p:blipFill>
          <a:blip r:embed="rId2" cstate="print">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4572000" y="1523996"/>
            <a:ext cx="7212038" cy="3810008"/>
          </a:xfr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2" name="Content Placeholder 1"/>
          <p:cNvSpPr>
            <a:spLocks noGrp="1"/>
          </p:cNvSpPr>
          <p:nvPr>
            <p:ph idx="1"/>
          </p:nvPr>
        </p:nvSpPr>
        <p:spPr>
          <a:xfrm>
            <a:off x="4216400" y="848032"/>
            <a:ext cx="7975600" cy="5161935"/>
          </a:xfrm>
        </p:spPr>
        <p:txBody>
          <a:bodyPr>
            <a:normAutofit fontScale="40000" lnSpcReduction="20000"/>
          </a:bodyPr>
          <a:lstStyle/>
          <a:p>
            <a:r>
              <a:rPr lang="en-US" sz="5600"/>
              <a:t>step - maps a unit of time in the real world. In this case 1 step is 1 hour of time.</a:t>
            </a:r>
          </a:p>
          <a:p>
            <a:r>
              <a:rPr lang="en-US" sz="5600"/>
              <a:t>type - CASH-IN, CASH-OUT, DEBIT, PAYMENT and TRANSFER.</a:t>
            </a:r>
          </a:p>
          <a:p>
            <a:r>
              <a:rPr lang="en-US" sz="5600"/>
              <a:t>amount - amount of the transaction in local currency.</a:t>
            </a:r>
          </a:p>
          <a:p>
            <a:r>
              <a:rPr lang="en-US" sz="5600" err="1"/>
              <a:t>nameOrig</a:t>
            </a:r>
            <a:r>
              <a:rPr lang="en-US" sz="5600"/>
              <a:t> - customer who started the transaction</a:t>
            </a:r>
          </a:p>
          <a:p>
            <a:r>
              <a:rPr lang="en-US" sz="5600" err="1"/>
              <a:t>oldbalanceOrg</a:t>
            </a:r>
            <a:r>
              <a:rPr lang="en-US" sz="5600"/>
              <a:t> - initial balance before the transaction</a:t>
            </a:r>
          </a:p>
          <a:p>
            <a:r>
              <a:rPr lang="en-US" sz="5600" err="1"/>
              <a:t>newbalanceOrig</a:t>
            </a:r>
            <a:r>
              <a:rPr lang="en-US" sz="5600"/>
              <a:t> - new balance after the transaction.</a:t>
            </a:r>
          </a:p>
          <a:p>
            <a:r>
              <a:rPr lang="en-US" sz="5600" err="1"/>
              <a:t>nameDest</a:t>
            </a:r>
            <a:r>
              <a:rPr lang="en-US" sz="5600"/>
              <a:t> - customer who is the recipient of the transaction</a:t>
            </a:r>
          </a:p>
          <a:p>
            <a:r>
              <a:rPr lang="en-US" sz="5600" err="1"/>
              <a:t>oldbalanceDest</a:t>
            </a:r>
            <a:r>
              <a:rPr lang="en-US" sz="5600"/>
              <a:t> - initial balance recipient before the transaction. </a:t>
            </a:r>
          </a:p>
          <a:p>
            <a:r>
              <a:rPr lang="en-US" sz="5600" err="1"/>
              <a:t>newbalanceDest</a:t>
            </a:r>
            <a:r>
              <a:rPr lang="en-US" sz="5600"/>
              <a:t> - new balance recipient after the transaction. </a:t>
            </a:r>
          </a:p>
          <a:p>
            <a:r>
              <a:rPr lang="en-US" sz="5600" err="1"/>
              <a:t>isFraud</a:t>
            </a:r>
            <a:r>
              <a:rPr lang="en-US" sz="5600"/>
              <a:t> - This is the transactions made by the fraudulent agents inside the simulation. In this specific dataset the fraudulent behavior of the agents aims to profit by taking control or customers accounts and try to empty the funds by transferring to another account and then cashing out of the system.</a:t>
            </a:r>
          </a:p>
          <a:p>
            <a:endParaRPr/>
          </a:p>
        </p:txBody>
      </p:sp>
      <p:sp>
        <p:nvSpPr>
          <p:cNvPr id="4" name="TextBox 3"/>
          <p:cNvSpPr txBox="1"/>
          <p:nvPr/>
        </p:nvSpPr>
        <p:spPr>
          <a:xfrm>
            <a:off x="101600" y="390832"/>
            <a:ext cx="8229600" cy="914400"/>
          </a:xfrm>
          <a:prstGeom prst="rect">
            <a:avLst/>
          </a:prstGeom>
          <a:noFill/>
        </p:spPr>
        <p:txBody>
          <a:bodyPr wrap="none">
            <a:spAutoFit/>
          </a:bodyPr>
          <a:lstStyle/>
          <a:p>
            <a:pPr>
              <a:defRPr sz="3200" b="1">
                <a:solidFill>
                  <a:srgbClr val="FFFFFF"/>
                </a:solidFill>
              </a:defRPr>
            </a:pPr>
            <a:r>
              <a:t>Dataset Overview</a:t>
            </a:r>
          </a:p>
        </p:txBody>
      </p:sp>
      <p:sp>
        <p:nvSpPr>
          <p:cNvPr id="5" name="TextBox 4"/>
          <p:cNvSpPr txBox="1"/>
          <p:nvPr/>
        </p:nvSpPr>
        <p:spPr>
          <a:xfrm>
            <a:off x="74383" y="1305232"/>
            <a:ext cx="3988977" cy="4370427"/>
          </a:xfrm>
          <a:prstGeom prst="rect">
            <a:avLst/>
          </a:prstGeom>
          <a:noFill/>
        </p:spPr>
        <p:txBody>
          <a:bodyPr wrap="none">
            <a:spAutoFit/>
          </a:bodyPr>
          <a:lstStyle/>
          <a:p>
            <a:endParaRPr/>
          </a:p>
          <a:p>
            <a:pPr>
              <a:defRPr sz="2000">
                <a:solidFill>
                  <a:srgbClr val="FFFFFF"/>
                </a:solidFill>
              </a:defRPr>
            </a:pPr>
            <a:r>
              <a:t>Dataset: Fraud_Analysis_Dataset.csv</a:t>
            </a:r>
          </a:p>
          <a:p>
            <a:pPr>
              <a:defRPr sz="2000">
                <a:solidFill>
                  <a:srgbClr val="FFFFFF"/>
                </a:solidFill>
              </a:defRPr>
            </a:pPr>
            <a:endParaRPr lang="en-US"/>
          </a:p>
          <a:p>
            <a:pPr>
              <a:defRPr sz="2000">
                <a:solidFill>
                  <a:srgbClr val="FFFFFF"/>
                </a:solidFill>
              </a:defRPr>
            </a:pPr>
            <a:r>
              <a:t>Features:</a:t>
            </a:r>
            <a:r>
              <a:rPr lang="en-US"/>
              <a:t>1)</a:t>
            </a:r>
            <a:r>
              <a:t> step</a:t>
            </a:r>
            <a:endParaRPr lang="en-US"/>
          </a:p>
          <a:p>
            <a:pPr>
              <a:defRPr sz="2000">
                <a:solidFill>
                  <a:srgbClr val="FFFFFF"/>
                </a:solidFill>
              </a:defRPr>
            </a:pPr>
            <a:r>
              <a:rPr lang="en-IN"/>
              <a:t>                 2)</a:t>
            </a:r>
            <a:r>
              <a:t> ty</a:t>
            </a:r>
            <a:r>
              <a:rPr lang="en-IN"/>
              <a:t>pe</a:t>
            </a:r>
            <a:endParaRPr lang="en-US"/>
          </a:p>
          <a:p>
            <a:pPr>
              <a:defRPr sz="2000">
                <a:solidFill>
                  <a:srgbClr val="FFFFFF"/>
                </a:solidFill>
              </a:defRPr>
            </a:pPr>
            <a:r>
              <a:rPr lang="en-US"/>
              <a:t>                 3) amount,</a:t>
            </a:r>
          </a:p>
          <a:p>
            <a:pPr>
              <a:defRPr sz="2000">
                <a:solidFill>
                  <a:srgbClr val="FFFFFF"/>
                </a:solidFill>
              </a:defRPr>
            </a:pPr>
            <a:r>
              <a:rPr lang="en-US"/>
              <a:t>                 4) </a:t>
            </a:r>
            <a:r>
              <a:rPr lang="en-US" err="1"/>
              <a:t>nameOrig</a:t>
            </a:r>
            <a:r>
              <a:rPr lang="en-US"/>
              <a:t> </a:t>
            </a:r>
          </a:p>
          <a:p>
            <a:pPr>
              <a:defRPr sz="2000">
                <a:solidFill>
                  <a:srgbClr val="FFFFFF"/>
                </a:solidFill>
              </a:defRPr>
            </a:pPr>
            <a:r>
              <a:rPr lang="en-US"/>
              <a:t>                 5) </a:t>
            </a:r>
            <a:r>
              <a:rPr lang="en-US" err="1"/>
              <a:t>oldbalanceOrig</a:t>
            </a:r>
            <a:endParaRPr lang="en-US"/>
          </a:p>
          <a:p>
            <a:pPr>
              <a:defRPr sz="2000">
                <a:solidFill>
                  <a:srgbClr val="FFFFFF"/>
                </a:solidFill>
              </a:defRPr>
            </a:pPr>
            <a:r>
              <a:rPr lang="en-US"/>
              <a:t>                 6) </a:t>
            </a:r>
            <a:r>
              <a:rPr lang="en-US" err="1"/>
              <a:t>newbalanceOrig</a:t>
            </a:r>
            <a:endParaRPr lang="en-US"/>
          </a:p>
          <a:p>
            <a:pPr>
              <a:defRPr sz="2000">
                <a:solidFill>
                  <a:srgbClr val="FFFFFF"/>
                </a:solidFill>
              </a:defRPr>
            </a:pPr>
            <a:r>
              <a:rPr lang="en-US"/>
              <a:t>                 7) </a:t>
            </a:r>
            <a:r>
              <a:rPr lang="en-US" err="1"/>
              <a:t>nameDest</a:t>
            </a:r>
            <a:endParaRPr lang="en-US"/>
          </a:p>
          <a:p>
            <a:pPr>
              <a:defRPr sz="2000">
                <a:solidFill>
                  <a:srgbClr val="FFFFFF"/>
                </a:solidFill>
              </a:defRPr>
            </a:pPr>
            <a:r>
              <a:rPr lang="en-US"/>
              <a:t>                 8) </a:t>
            </a:r>
            <a:r>
              <a:rPr lang="en-US" err="1"/>
              <a:t>oldbalanceDest</a:t>
            </a:r>
            <a:endParaRPr lang="en-US"/>
          </a:p>
          <a:p>
            <a:pPr>
              <a:defRPr sz="2000">
                <a:solidFill>
                  <a:srgbClr val="FFFFFF"/>
                </a:solidFill>
              </a:defRPr>
            </a:pPr>
            <a:r>
              <a:rPr lang="en-US"/>
              <a:t>                 9) </a:t>
            </a:r>
            <a:r>
              <a:rPr lang="en-US" err="1"/>
              <a:t>newbalanceDest</a:t>
            </a:r>
            <a:endParaRPr lang="en-US"/>
          </a:p>
          <a:p>
            <a:pPr>
              <a:defRPr sz="2000">
                <a:solidFill>
                  <a:srgbClr val="FFFFFF"/>
                </a:solidFill>
              </a:defRPr>
            </a:pPr>
            <a:endParaRPr lang="en-US"/>
          </a:p>
          <a:p>
            <a:pPr>
              <a:defRPr sz="2000">
                <a:solidFill>
                  <a:srgbClr val="FFFFFF"/>
                </a:solidFill>
              </a:defRPr>
            </a:pPr>
            <a:r>
              <a:t>Target: </a:t>
            </a:r>
            <a:r>
              <a:rPr err="1"/>
              <a:t>isFraud</a:t>
            </a:r>
            <a:r>
              <a:t> (0=genuine, 1=fraud)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E2A1B2F6-CC00-43DA-8C89-A6B153769022}"/>
              </a:ext>
            </a:extLst>
          </p:cNvPr>
          <p:cNvPicPr>
            <a:picLocks noGrp="1" noChangeAspect="1"/>
          </p:cNvPicPr>
          <p:nvPr>
            <p:ph idx="1"/>
          </p:nvPr>
        </p:nvPicPr>
        <p:blipFill>
          <a:blip r:embed="rId2"/>
          <a:stretch>
            <a:fillRect/>
          </a:stretch>
        </p:blipFill>
        <p:spPr>
          <a:xfrm>
            <a:off x="4262830" y="0"/>
            <a:ext cx="3310914" cy="2089532"/>
          </a:xfrm>
          <a:prstGeom prst="rect">
            <a:avLst/>
          </a:prstGeom>
        </p:spPr>
      </p:pic>
      <p:sp>
        <p:nvSpPr>
          <p:cNvPr id="4" name="TextBox 3"/>
          <p:cNvSpPr txBox="1"/>
          <p:nvPr/>
        </p:nvSpPr>
        <p:spPr>
          <a:xfrm>
            <a:off x="138452" y="1202929"/>
            <a:ext cx="3987117" cy="523220"/>
          </a:xfrm>
          <a:prstGeom prst="rect">
            <a:avLst/>
          </a:prstGeom>
          <a:noFill/>
        </p:spPr>
        <p:txBody>
          <a:bodyPr wrap="none">
            <a:spAutoFit/>
          </a:bodyPr>
          <a:lstStyle/>
          <a:p>
            <a:pPr>
              <a:defRPr sz="3200" b="1">
                <a:solidFill>
                  <a:srgbClr val="FFFFFF"/>
                </a:solidFill>
              </a:defRPr>
            </a:pPr>
            <a:r>
              <a:rPr sz="2800"/>
              <a:t>Exploratory Data Analysis</a:t>
            </a:r>
          </a:p>
        </p:txBody>
      </p:sp>
      <p:sp>
        <p:nvSpPr>
          <p:cNvPr id="5" name="TextBox 4"/>
          <p:cNvSpPr txBox="1"/>
          <p:nvPr/>
        </p:nvSpPr>
        <p:spPr>
          <a:xfrm>
            <a:off x="138452" y="2462795"/>
            <a:ext cx="8229600" cy="4572000"/>
          </a:xfrm>
          <a:prstGeom prst="rect">
            <a:avLst/>
          </a:prstGeom>
          <a:noFill/>
        </p:spPr>
        <p:txBody>
          <a:bodyPr wrap="none">
            <a:spAutoFit/>
          </a:bodyPr>
          <a:lstStyle/>
          <a:p>
            <a:endParaRPr/>
          </a:p>
          <a:p>
            <a:pPr>
              <a:defRPr sz="2000">
                <a:solidFill>
                  <a:srgbClr val="FFFFFF"/>
                </a:solidFill>
              </a:defRPr>
            </a:pPr>
            <a:r>
              <a:t>EDA reveals:</a:t>
            </a:r>
          </a:p>
          <a:p>
            <a:pPr>
              <a:defRPr sz="2000">
                <a:solidFill>
                  <a:srgbClr val="FFFFFF"/>
                </a:solidFill>
              </a:defRPr>
            </a:pPr>
            <a:r>
              <a:t>• Heavy class imbalance</a:t>
            </a:r>
          </a:p>
          <a:p>
            <a:pPr>
              <a:defRPr sz="2000">
                <a:solidFill>
                  <a:srgbClr val="FFFFFF"/>
                </a:solidFill>
              </a:defRPr>
            </a:pPr>
            <a:r>
              <a:t>• Presence of outliers</a:t>
            </a:r>
          </a:p>
          <a:p>
            <a:pPr>
              <a:defRPr sz="2000">
                <a:solidFill>
                  <a:srgbClr val="FFFFFF"/>
                </a:solidFill>
              </a:defRPr>
            </a:pPr>
            <a:r>
              <a:t>• Skewed amount distribution</a:t>
            </a:r>
          </a:p>
          <a:p>
            <a:pPr>
              <a:defRPr sz="2000">
                <a:solidFill>
                  <a:srgbClr val="FFFFFF"/>
                </a:solidFill>
              </a:defRPr>
            </a:pPr>
            <a:r>
              <a:t>• Strong relationships in balance diffs</a:t>
            </a:r>
          </a:p>
        </p:txBody>
      </p:sp>
      <p:pic>
        <p:nvPicPr>
          <p:cNvPr id="7" name="Picture 6">
            <a:extLst>
              <a:ext uri="{FF2B5EF4-FFF2-40B4-BE49-F238E27FC236}">
                <a16:creationId xmlns:a16="http://schemas.microsoft.com/office/drawing/2014/main" id="{4C5D22E5-2183-4C7D-BB02-4EC4EA809395}"/>
              </a:ext>
            </a:extLst>
          </p:cNvPr>
          <p:cNvPicPr>
            <a:picLocks noChangeAspect="1"/>
          </p:cNvPicPr>
          <p:nvPr/>
        </p:nvPicPr>
        <p:blipFill>
          <a:blip r:embed="rId3"/>
          <a:stretch>
            <a:fillRect/>
          </a:stretch>
        </p:blipFill>
        <p:spPr>
          <a:xfrm>
            <a:off x="7929171" y="57510"/>
            <a:ext cx="3310914" cy="1891725"/>
          </a:xfrm>
          <a:prstGeom prst="rect">
            <a:avLst/>
          </a:prstGeom>
        </p:spPr>
      </p:pic>
      <p:pic>
        <p:nvPicPr>
          <p:cNvPr id="8" name="Picture 7">
            <a:extLst>
              <a:ext uri="{FF2B5EF4-FFF2-40B4-BE49-F238E27FC236}">
                <a16:creationId xmlns:a16="http://schemas.microsoft.com/office/drawing/2014/main" id="{F6283B5F-54B2-4390-95F4-300FF513C504}"/>
              </a:ext>
            </a:extLst>
          </p:cNvPr>
          <p:cNvPicPr>
            <a:picLocks noChangeAspect="1"/>
          </p:cNvPicPr>
          <p:nvPr/>
        </p:nvPicPr>
        <p:blipFill>
          <a:blip r:embed="rId4"/>
          <a:stretch>
            <a:fillRect/>
          </a:stretch>
        </p:blipFill>
        <p:spPr>
          <a:xfrm>
            <a:off x="4262829" y="1949235"/>
            <a:ext cx="3666341" cy="2433000"/>
          </a:xfrm>
          <a:prstGeom prst="rect">
            <a:avLst/>
          </a:prstGeom>
        </p:spPr>
      </p:pic>
      <p:pic>
        <p:nvPicPr>
          <p:cNvPr id="9" name="Picture 8">
            <a:extLst>
              <a:ext uri="{FF2B5EF4-FFF2-40B4-BE49-F238E27FC236}">
                <a16:creationId xmlns:a16="http://schemas.microsoft.com/office/drawing/2014/main" id="{643EC38F-7564-4F9F-B651-96C0A5C6DC67}"/>
              </a:ext>
            </a:extLst>
          </p:cNvPr>
          <p:cNvPicPr>
            <a:picLocks noChangeAspect="1"/>
          </p:cNvPicPr>
          <p:nvPr/>
        </p:nvPicPr>
        <p:blipFill>
          <a:blip r:embed="rId5"/>
          <a:stretch>
            <a:fillRect/>
          </a:stretch>
        </p:blipFill>
        <p:spPr>
          <a:xfrm>
            <a:off x="7818658" y="2172321"/>
            <a:ext cx="3803602" cy="2065951"/>
          </a:xfrm>
          <a:prstGeom prst="rect">
            <a:avLst/>
          </a:prstGeom>
        </p:spPr>
      </p:pic>
      <p:pic>
        <p:nvPicPr>
          <p:cNvPr id="10" name="Picture 9">
            <a:extLst>
              <a:ext uri="{FF2B5EF4-FFF2-40B4-BE49-F238E27FC236}">
                <a16:creationId xmlns:a16="http://schemas.microsoft.com/office/drawing/2014/main" id="{48C80EBD-E28E-4136-8114-8FEBCC8E0680}"/>
              </a:ext>
            </a:extLst>
          </p:cNvPr>
          <p:cNvPicPr>
            <a:picLocks noChangeAspect="1"/>
          </p:cNvPicPr>
          <p:nvPr/>
        </p:nvPicPr>
        <p:blipFill>
          <a:blip r:embed="rId6"/>
          <a:stretch>
            <a:fillRect/>
          </a:stretch>
        </p:blipFill>
        <p:spPr>
          <a:xfrm>
            <a:off x="4309613" y="4382235"/>
            <a:ext cx="3217348" cy="2215940"/>
          </a:xfrm>
          <a:prstGeom prst="rect">
            <a:avLst/>
          </a:prstGeom>
        </p:spPr>
      </p:pic>
      <p:pic>
        <p:nvPicPr>
          <p:cNvPr id="11" name="Picture 10">
            <a:extLst>
              <a:ext uri="{FF2B5EF4-FFF2-40B4-BE49-F238E27FC236}">
                <a16:creationId xmlns:a16="http://schemas.microsoft.com/office/drawing/2014/main" id="{4DB057A9-CA9E-481C-8D42-4276B56B7B3B}"/>
              </a:ext>
            </a:extLst>
          </p:cNvPr>
          <p:cNvPicPr>
            <a:picLocks noChangeAspect="1"/>
          </p:cNvPicPr>
          <p:nvPr/>
        </p:nvPicPr>
        <p:blipFill>
          <a:blip r:embed="rId7"/>
          <a:stretch>
            <a:fillRect/>
          </a:stretch>
        </p:blipFill>
        <p:spPr>
          <a:xfrm>
            <a:off x="8065001" y="4395205"/>
            <a:ext cx="3310915" cy="18030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raud_count.png"/>
          <p:cNvPicPr>
            <a:picLocks noChangeAspect="1"/>
          </p:cNvPicPr>
          <p:nvPr/>
        </p:nvPicPr>
        <p:blipFill>
          <a:blip r:embed="rId2"/>
          <a:stretch>
            <a:fillRect/>
          </a:stretch>
        </p:blipFill>
        <p:spPr>
          <a:xfrm>
            <a:off x="980566" y="116399"/>
            <a:ext cx="5840952" cy="3023411"/>
          </a:xfrm>
          <a:prstGeom prst="rect">
            <a:avLst/>
          </a:prstGeom>
        </p:spPr>
      </p:pic>
      <p:pic>
        <p:nvPicPr>
          <p:cNvPr id="6" name="Picture 5">
            <a:extLst>
              <a:ext uri="{FF2B5EF4-FFF2-40B4-BE49-F238E27FC236}">
                <a16:creationId xmlns:a16="http://schemas.microsoft.com/office/drawing/2014/main" id="{11507C55-778B-4A29-8013-273A5425CA6F}"/>
              </a:ext>
            </a:extLst>
          </p:cNvPr>
          <p:cNvPicPr>
            <a:picLocks noChangeAspect="1"/>
          </p:cNvPicPr>
          <p:nvPr/>
        </p:nvPicPr>
        <p:blipFill>
          <a:blip r:embed="rId3"/>
          <a:stretch>
            <a:fillRect/>
          </a:stretch>
        </p:blipFill>
        <p:spPr>
          <a:xfrm>
            <a:off x="980566" y="3153877"/>
            <a:ext cx="5617183" cy="2923365"/>
          </a:xfrm>
          <a:prstGeom prst="rect">
            <a:avLst/>
          </a:prstGeom>
        </p:spPr>
      </p:pic>
      <p:sp>
        <p:nvSpPr>
          <p:cNvPr id="7" name="Arrow: Right 6">
            <a:extLst>
              <a:ext uri="{FF2B5EF4-FFF2-40B4-BE49-F238E27FC236}">
                <a16:creationId xmlns:a16="http://schemas.microsoft.com/office/drawing/2014/main" id="{BA514FFA-2E61-4D6E-ADC7-3C53CBAA1A55}"/>
              </a:ext>
            </a:extLst>
          </p:cNvPr>
          <p:cNvSpPr/>
          <p:nvPr/>
        </p:nvSpPr>
        <p:spPr>
          <a:xfrm>
            <a:off x="7053942" y="1524000"/>
            <a:ext cx="745983" cy="3464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871F3AFF-B850-4E93-9424-2DA4D3FA53B4}"/>
              </a:ext>
            </a:extLst>
          </p:cNvPr>
          <p:cNvPicPr>
            <a:picLocks noChangeAspect="1"/>
          </p:cNvPicPr>
          <p:nvPr/>
        </p:nvPicPr>
        <p:blipFill>
          <a:blip r:embed="rId4"/>
          <a:stretch>
            <a:fillRect/>
          </a:stretch>
        </p:blipFill>
        <p:spPr>
          <a:xfrm>
            <a:off x="7053942" y="4601029"/>
            <a:ext cx="745984" cy="456021"/>
          </a:xfrm>
          <a:prstGeom prst="rect">
            <a:avLst/>
          </a:prstGeom>
        </p:spPr>
      </p:pic>
      <p:sp>
        <p:nvSpPr>
          <p:cNvPr id="9" name="Rectangle 8">
            <a:extLst>
              <a:ext uri="{FF2B5EF4-FFF2-40B4-BE49-F238E27FC236}">
                <a16:creationId xmlns:a16="http://schemas.microsoft.com/office/drawing/2014/main" id="{A4436DAA-299D-4278-96FB-F450701F7639}"/>
              </a:ext>
            </a:extLst>
          </p:cNvPr>
          <p:cNvSpPr/>
          <p:nvPr/>
        </p:nvSpPr>
        <p:spPr>
          <a:xfrm>
            <a:off x="8256118" y="612441"/>
            <a:ext cx="3935881" cy="2031325"/>
          </a:xfrm>
          <a:prstGeom prst="rect">
            <a:avLst/>
          </a:prstGeom>
        </p:spPr>
        <p:txBody>
          <a:bodyPr wrap="square">
            <a:spAutoFit/>
          </a:bodyPr>
          <a:lstStyle/>
          <a:p>
            <a:r>
              <a:rPr lang="en-US">
                <a:solidFill>
                  <a:schemeClr val="bg1"/>
                </a:solidFill>
              </a:rPr>
              <a:t>Fraud cases are much fewer compared to non-fraud.</a:t>
            </a:r>
          </a:p>
          <a:p>
            <a:endParaRPr lang="en-US">
              <a:solidFill>
                <a:schemeClr val="bg1"/>
              </a:solidFill>
            </a:endParaRPr>
          </a:p>
          <a:p>
            <a:r>
              <a:rPr lang="en-US">
                <a:solidFill>
                  <a:schemeClr val="bg1"/>
                </a:solidFill>
              </a:rPr>
              <a:t>This dataset is imbalanced, meaning you must use SMOTE, class weights, or balanced sampling while training ML models</a:t>
            </a:r>
            <a:r>
              <a:rPr lang="en-US"/>
              <a:t>.</a:t>
            </a:r>
            <a:endParaRPr lang="en-IN"/>
          </a:p>
        </p:txBody>
      </p:sp>
      <p:sp>
        <p:nvSpPr>
          <p:cNvPr id="10" name="Rectangle 9">
            <a:extLst>
              <a:ext uri="{FF2B5EF4-FFF2-40B4-BE49-F238E27FC236}">
                <a16:creationId xmlns:a16="http://schemas.microsoft.com/office/drawing/2014/main" id="{1A8E2C38-780F-4ECF-BDBF-49C178853CFA}"/>
              </a:ext>
            </a:extLst>
          </p:cNvPr>
          <p:cNvSpPr/>
          <p:nvPr/>
        </p:nvSpPr>
        <p:spPr>
          <a:xfrm>
            <a:off x="8256119" y="3491919"/>
            <a:ext cx="3935881" cy="2585323"/>
          </a:xfrm>
          <a:prstGeom prst="rect">
            <a:avLst/>
          </a:prstGeom>
        </p:spPr>
        <p:txBody>
          <a:bodyPr wrap="square">
            <a:spAutoFit/>
          </a:bodyPr>
          <a:lstStyle/>
          <a:p>
            <a:r>
              <a:rPr lang="en-US">
                <a:solidFill>
                  <a:schemeClr val="bg1"/>
                </a:solidFill>
              </a:rPr>
              <a:t>PAYMENT transactions are the most common.</a:t>
            </a:r>
          </a:p>
          <a:p>
            <a:endParaRPr lang="en-US">
              <a:solidFill>
                <a:schemeClr val="bg1"/>
              </a:solidFill>
            </a:endParaRPr>
          </a:p>
          <a:p>
            <a:r>
              <a:rPr lang="en-US">
                <a:solidFill>
                  <a:schemeClr val="bg1"/>
                </a:solidFill>
              </a:rPr>
              <a:t>TRANSFER and CASH_OUT are known to be highly associated with fraud in many real-world datasets.</a:t>
            </a:r>
          </a:p>
          <a:p>
            <a:endParaRPr lang="en-US">
              <a:solidFill>
                <a:schemeClr val="bg1"/>
              </a:solidFill>
            </a:endParaRPr>
          </a:p>
          <a:p>
            <a:r>
              <a:rPr lang="en-US">
                <a:solidFill>
                  <a:schemeClr val="bg1"/>
                </a:solidFill>
              </a:rPr>
              <a:t>You may want to isolate specific transaction types for fraud modeling.</a:t>
            </a:r>
            <a:endParaRPr lang="en-IN">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mount_dist.png"/>
          <p:cNvPicPr>
            <a:picLocks noChangeAspect="1"/>
          </p:cNvPicPr>
          <p:nvPr/>
        </p:nvPicPr>
        <p:blipFill>
          <a:blip r:embed="rId2"/>
          <a:stretch>
            <a:fillRect/>
          </a:stretch>
        </p:blipFill>
        <p:spPr>
          <a:xfrm>
            <a:off x="816834" y="98473"/>
            <a:ext cx="5771535" cy="3094893"/>
          </a:xfrm>
          <a:prstGeom prst="rect">
            <a:avLst/>
          </a:prstGeom>
        </p:spPr>
      </p:pic>
      <p:pic>
        <p:nvPicPr>
          <p:cNvPr id="6" name="Picture 5">
            <a:extLst>
              <a:ext uri="{FF2B5EF4-FFF2-40B4-BE49-F238E27FC236}">
                <a16:creationId xmlns:a16="http://schemas.microsoft.com/office/drawing/2014/main" id="{72AC3244-4E59-43F0-AE25-1BB1136CBEF4}"/>
              </a:ext>
            </a:extLst>
          </p:cNvPr>
          <p:cNvPicPr>
            <a:picLocks noChangeAspect="1"/>
          </p:cNvPicPr>
          <p:nvPr/>
        </p:nvPicPr>
        <p:blipFill>
          <a:blip r:embed="rId3"/>
          <a:stretch>
            <a:fillRect/>
          </a:stretch>
        </p:blipFill>
        <p:spPr>
          <a:xfrm>
            <a:off x="816834" y="3193366"/>
            <a:ext cx="5918127" cy="3094893"/>
          </a:xfrm>
          <a:prstGeom prst="rect">
            <a:avLst/>
          </a:prstGeom>
        </p:spPr>
      </p:pic>
      <p:sp>
        <p:nvSpPr>
          <p:cNvPr id="8" name="Arrow: Right 7">
            <a:extLst>
              <a:ext uri="{FF2B5EF4-FFF2-40B4-BE49-F238E27FC236}">
                <a16:creationId xmlns:a16="http://schemas.microsoft.com/office/drawing/2014/main" id="{86ECA4F3-2391-48AB-8D73-B27195BABC5E}"/>
              </a:ext>
            </a:extLst>
          </p:cNvPr>
          <p:cNvSpPr/>
          <p:nvPr/>
        </p:nvSpPr>
        <p:spPr>
          <a:xfrm>
            <a:off x="7155542" y="1451429"/>
            <a:ext cx="760693" cy="32497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A3C9B034-EE33-4193-BCEF-A07A12B75473}"/>
              </a:ext>
            </a:extLst>
          </p:cNvPr>
          <p:cNvPicPr>
            <a:picLocks noChangeAspect="1"/>
          </p:cNvPicPr>
          <p:nvPr/>
        </p:nvPicPr>
        <p:blipFill>
          <a:blip r:embed="rId4"/>
          <a:stretch>
            <a:fillRect/>
          </a:stretch>
        </p:blipFill>
        <p:spPr>
          <a:xfrm>
            <a:off x="7155541" y="4756624"/>
            <a:ext cx="760693" cy="324974"/>
          </a:xfrm>
          <a:prstGeom prst="rect">
            <a:avLst/>
          </a:prstGeom>
        </p:spPr>
      </p:pic>
      <p:sp>
        <p:nvSpPr>
          <p:cNvPr id="10" name="Rectangle 9">
            <a:extLst>
              <a:ext uri="{FF2B5EF4-FFF2-40B4-BE49-F238E27FC236}">
                <a16:creationId xmlns:a16="http://schemas.microsoft.com/office/drawing/2014/main" id="{6334C4BB-70D5-419A-8459-30F8B646145E}"/>
              </a:ext>
            </a:extLst>
          </p:cNvPr>
          <p:cNvSpPr/>
          <p:nvPr/>
        </p:nvSpPr>
        <p:spPr>
          <a:xfrm>
            <a:off x="8262446" y="630256"/>
            <a:ext cx="3929554" cy="2031325"/>
          </a:xfrm>
          <a:prstGeom prst="rect">
            <a:avLst/>
          </a:prstGeom>
        </p:spPr>
        <p:txBody>
          <a:bodyPr wrap="square">
            <a:spAutoFit/>
          </a:bodyPr>
          <a:lstStyle/>
          <a:p>
            <a:r>
              <a:rPr lang="en-US">
                <a:solidFill>
                  <a:schemeClr val="bg1"/>
                </a:solidFill>
              </a:rPr>
              <a:t>Most transactions are very small.</a:t>
            </a:r>
          </a:p>
          <a:p>
            <a:endParaRPr lang="en-US">
              <a:solidFill>
                <a:schemeClr val="bg1"/>
              </a:solidFill>
            </a:endParaRPr>
          </a:p>
          <a:p>
            <a:r>
              <a:rPr lang="en-US">
                <a:solidFill>
                  <a:schemeClr val="bg1"/>
                </a:solidFill>
              </a:rPr>
              <a:t>A few transactions are extremely large (millions), creating a heavy right skew.</a:t>
            </a:r>
          </a:p>
          <a:p>
            <a:endParaRPr lang="en-US">
              <a:solidFill>
                <a:schemeClr val="bg1"/>
              </a:solidFill>
            </a:endParaRPr>
          </a:p>
          <a:p>
            <a:r>
              <a:rPr lang="en-US">
                <a:solidFill>
                  <a:schemeClr val="bg1"/>
                </a:solidFill>
              </a:rPr>
              <a:t>Fraudsters often attempt abnormally large amounts.</a:t>
            </a:r>
            <a:endParaRPr lang="en-IN">
              <a:solidFill>
                <a:schemeClr val="bg1"/>
              </a:solidFill>
            </a:endParaRPr>
          </a:p>
        </p:txBody>
      </p:sp>
      <p:sp>
        <p:nvSpPr>
          <p:cNvPr id="11" name="Rectangle 10">
            <a:extLst>
              <a:ext uri="{FF2B5EF4-FFF2-40B4-BE49-F238E27FC236}">
                <a16:creationId xmlns:a16="http://schemas.microsoft.com/office/drawing/2014/main" id="{DA1EE3AA-53BA-4137-9F61-435847699331}"/>
              </a:ext>
            </a:extLst>
          </p:cNvPr>
          <p:cNvSpPr/>
          <p:nvPr/>
        </p:nvSpPr>
        <p:spPr>
          <a:xfrm>
            <a:off x="8262446" y="3408947"/>
            <a:ext cx="3929554" cy="2585323"/>
          </a:xfrm>
          <a:prstGeom prst="rect">
            <a:avLst/>
          </a:prstGeom>
        </p:spPr>
        <p:txBody>
          <a:bodyPr wrap="square">
            <a:spAutoFit/>
          </a:bodyPr>
          <a:lstStyle/>
          <a:p>
            <a:r>
              <a:rPr lang="en-US">
                <a:solidFill>
                  <a:schemeClr val="bg1"/>
                </a:solidFill>
              </a:rPr>
              <a:t>Many transactions follow a straight-line pattern → amount deducted correctly.</a:t>
            </a:r>
          </a:p>
          <a:p>
            <a:endParaRPr lang="en-US">
              <a:solidFill>
                <a:schemeClr val="bg1"/>
              </a:solidFill>
            </a:endParaRPr>
          </a:p>
          <a:p>
            <a:r>
              <a:rPr lang="en-US">
                <a:solidFill>
                  <a:schemeClr val="bg1"/>
                </a:solidFill>
              </a:rPr>
              <a:t>Many points drop to zero new balance, meaning account was emptied.</a:t>
            </a:r>
          </a:p>
          <a:p>
            <a:endParaRPr lang="en-US">
              <a:solidFill>
                <a:schemeClr val="bg1"/>
              </a:solidFill>
            </a:endParaRPr>
          </a:p>
          <a:p>
            <a:r>
              <a:rPr lang="en-US">
                <a:solidFill>
                  <a:schemeClr val="bg1"/>
                </a:solidFill>
              </a:rPr>
              <a:t>Suspicious transactions often show large drop to zero or inconsistent patterns.</a:t>
            </a:r>
            <a:endParaRPr lang="en-IN">
              <a:solidFill>
                <a:schemeClr val="bg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balance_dest.png"/>
          <p:cNvPicPr>
            <a:picLocks noChangeAspect="1"/>
          </p:cNvPicPr>
          <p:nvPr/>
        </p:nvPicPr>
        <p:blipFill>
          <a:blip r:embed="rId2"/>
          <a:stretch>
            <a:fillRect/>
          </a:stretch>
        </p:blipFill>
        <p:spPr>
          <a:xfrm>
            <a:off x="928468" y="0"/>
            <a:ext cx="5373858" cy="3108960"/>
          </a:xfrm>
          <a:prstGeom prst="rect">
            <a:avLst/>
          </a:prstGeom>
        </p:spPr>
      </p:pic>
      <p:pic>
        <p:nvPicPr>
          <p:cNvPr id="7" name="Picture 6">
            <a:extLst>
              <a:ext uri="{FF2B5EF4-FFF2-40B4-BE49-F238E27FC236}">
                <a16:creationId xmlns:a16="http://schemas.microsoft.com/office/drawing/2014/main" id="{17746468-6838-4247-BD10-F36791DEBBA7}"/>
              </a:ext>
            </a:extLst>
          </p:cNvPr>
          <p:cNvPicPr>
            <a:picLocks noChangeAspect="1"/>
          </p:cNvPicPr>
          <p:nvPr/>
        </p:nvPicPr>
        <p:blipFill>
          <a:blip r:embed="rId3"/>
          <a:stretch>
            <a:fillRect/>
          </a:stretch>
        </p:blipFill>
        <p:spPr>
          <a:xfrm>
            <a:off x="1026942" y="3010486"/>
            <a:ext cx="5373858" cy="3248925"/>
          </a:xfrm>
          <a:prstGeom prst="rect">
            <a:avLst/>
          </a:prstGeom>
        </p:spPr>
      </p:pic>
      <p:pic>
        <p:nvPicPr>
          <p:cNvPr id="8" name="Picture 7">
            <a:extLst>
              <a:ext uri="{FF2B5EF4-FFF2-40B4-BE49-F238E27FC236}">
                <a16:creationId xmlns:a16="http://schemas.microsoft.com/office/drawing/2014/main" id="{31560A8A-60EC-42F6-AF66-DEFD8862CA2B}"/>
              </a:ext>
            </a:extLst>
          </p:cNvPr>
          <p:cNvPicPr>
            <a:picLocks noChangeAspect="1"/>
          </p:cNvPicPr>
          <p:nvPr/>
        </p:nvPicPr>
        <p:blipFill>
          <a:blip r:embed="rId4"/>
          <a:stretch>
            <a:fillRect/>
          </a:stretch>
        </p:blipFill>
        <p:spPr>
          <a:xfrm>
            <a:off x="6981169" y="4506160"/>
            <a:ext cx="780356" cy="337709"/>
          </a:xfrm>
          <a:prstGeom prst="rect">
            <a:avLst/>
          </a:prstGeom>
        </p:spPr>
      </p:pic>
      <p:pic>
        <p:nvPicPr>
          <p:cNvPr id="9" name="Picture 8">
            <a:extLst>
              <a:ext uri="{FF2B5EF4-FFF2-40B4-BE49-F238E27FC236}">
                <a16:creationId xmlns:a16="http://schemas.microsoft.com/office/drawing/2014/main" id="{C7B1F848-C2DC-43ED-973E-62BDF14D6FA2}"/>
              </a:ext>
            </a:extLst>
          </p:cNvPr>
          <p:cNvPicPr>
            <a:picLocks noChangeAspect="1"/>
          </p:cNvPicPr>
          <p:nvPr/>
        </p:nvPicPr>
        <p:blipFill>
          <a:blip r:embed="rId4"/>
          <a:stretch>
            <a:fillRect/>
          </a:stretch>
        </p:blipFill>
        <p:spPr>
          <a:xfrm>
            <a:off x="6981169" y="1475874"/>
            <a:ext cx="780356" cy="337708"/>
          </a:xfrm>
          <a:prstGeom prst="rect">
            <a:avLst/>
          </a:prstGeom>
        </p:spPr>
      </p:pic>
      <p:sp>
        <p:nvSpPr>
          <p:cNvPr id="10" name="Rectangle 9">
            <a:extLst>
              <a:ext uri="{FF2B5EF4-FFF2-40B4-BE49-F238E27FC236}">
                <a16:creationId xmlns:a16="http://schemas.microsoft.com/office/drawing/2014/main" id="{04CEF611-1D69-4082-9E5E-B2A9EE3FA1FF}"/>
              </a:ext>
            </a:extLst>
          </p:cNvPr>
          <p:cNvSpPr/>
          <p:nvPr/>
        </p:nvSpPr>
        <p:spPr>
          <a:xfrm>
            <a:off x="8325853" y="906064"/>
            <a:ext cx="3866147" cy="1477328"/>
          </a:xfrm>
          <a:prstGeom prst="rect">
            <a:avLst/>
          </a:prstGeom>
        </p:spPr>
        <p:txBody>
          <a:bodyPr wrap="square">
            <a:spAutoFit/>
          </a:bodyPr>
          <a:lstStyle/>
          <a:p>
            <a:r>
              <a:rPr lang="en-US">
                <a:solidFill>
                  <a:schemeClr val="bg1"/>
                </a:solidFill>
              </a:rPr>
              <a:t>Receivers often go from 0 to large values suddenly.</a:t>
            </a:r>
          </a:p>
          <a:p>
            <a:endParaRPr lang="en-US">
              <a:solidFill>
                <a:schemeClr val="bg1"/>
              </a:solidFill>
            </a:endParaRPr>
          </a:p>
          <a:p>
            <a:r>
              <a:rPr lang="en-US">
                <a:solidFill>
                  <a:schemeClr val="bg1"/>
                </a:solidFill>
              </a:rPr>
              <a:t>Fraud transactions frequently show sudden big balance increases.</a:t>
            </a:r>
            <a:endParaRPr lang="en-IN">
              <a:solidFill>
                <a:schemeClr val="bg1"/>
              </a:solidFill>
            </a:endParaRPr>
          </a:p>
        </p:txBody>
      </p:sp>
      <p:sp>
        <p:nvSpPr>
          <p:cNvPr id="11" name="Rectangle 10">
            <a:extLst>
              <a:ext uri="{FF2B5EF4-FFF2-40B4-BE49-F238E27FC236}">
                <a16:creationId xmlns:a16="http://schemas.microsoft.com/office/drawing/2014/main" id="{53B50534-E62B-4535-8FA4-6B0BE93FD33C}"/>
              </a:ext>
            </a:extLst>
          </p:cNvPr>
          <p:cNvSpPr/>
          <p:nvPr/>
        </p:nvSpPr>
        <p:spPr>
          <a:xfrm>
            <a:off x="8325852" y="3429000"/>
            <a:ext cx="3866147" cy="2585323"/>
          </a:xfrm>
          <a:prstGeom prst="rect">
            <a:avLst/>
          </a:prstGeom>
        </p:spPr>
        <p:txBody>
          <a:bodyPr wrap="square">
            <a:spAutoFit/>
          </a:bodyPr>
          <a:lstStyle/>
          <a:p>
            <a:r>
              <a:rPr lang="en-US">
                <a:solidFill>
                  <a:schemeClr val="bg1"/>
                </a:solidFill>
              </a:rPr>
              <a:t>High-value transactions happen throughout time.</a:t>
            </a:r>
          </a:p>
          <a:p>
            <a:endParaRPr lang="en-US">
              <a:solidFill>
                <a:schemeClr val="bg1"/>
              </a:solidFill>
            </a:endParaRPr>
          </a:p>
          <a:p>
            <a:r>
              <a:rPr lang="en-US">
                <a:solidFill>
                  <a:schemeClr val="bg1"/>
                </a:solidFill>
              </a:rPr>
              <a:t>No clear trend — fraud can occur at any time step.</a:t>
            </a:r>
          </a:p>
          <a:p>
            <a:endParaRPr lang="en-US">
              <a:solidFill>
                <a:schemeClr val="bg1"/>
              </a:solidFill>
            </a:endParaRPr>
          </a:p>
          <a:p>
            <a:r>
              <a:rPr lang="en-US">
                <a:solidFill>
                  <a:schemeClr val="bg1"/>
                </a:solidFill>
              </a:rPr>
              <a:t>Some time steps have dense activity (clusters), useful for temporal modeling.</a:t>
            </a:r>
            <a:endParaRPr lang="en-IN">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6571F2C-C4FA-48EF-809B-B4F334F92909}"/>
              </a:ext>
            </a:extLst>
          </p:cNvPr>
          <p:cNvPicPr>
            <a:picLocks noChangeAspect="1"/>
          </p:cNvPicPr>
          <p:nvPr/>
        </p:nvPicPr>
        <p:blipFill>
          <a:blip r:embed="rId2"/>
          <a:stretch>
            <a:fillRect/>
          </a:stretch>
        </p:blipFill>
        <p:spPr>
          <a:xfrm>
            <a:off x="0" y="0"/>
            <a:ext cx="8117305" cy="6858000"/>
          </a:xfrm>
          <a:prstGeom prst="rect">
            <a:avLst/>
          </a:prstGeom>
        </p:spPr>
      </p:pic>
      <p:sp>
        <p:nvSpPr>
          <p:cNvPr id="11" name="Rectangle 10">
            <a:extLst>
              <a:ext uri="{FF2B5EF4-FFF2-40B4-BE49-F238E27FC236}">
                <a16:creationId xmlns:a16="http://schemas.microsoft.com/office/drawing/2014/main" id="{DEE07039-FA36-49E8-A88A-ABD33A3BF237}"/>
              </a:ext>
            </a:extLst>
          </p:cNvPr>
          <p:cNvSpPr/>
          <p:nvPr/>
        </p:nvSpPr>
        <p:spPr>
          <a:xfrm>
            <a:off x="8314303" y="262099"/>
            <a:ext cx="3588939" cy="1846659"/>
          </a:xfrm>
          <a:prstGeom prst="rect">
            <a:avLst/>
          </a:prstGeom>
        </p:spPr>
        <p:txBody>
          <a:bodyPr wrap="square">
            <a:spAutoFit/>
          </a:bodyPr>
          <a:lstStyle/>
          <a:p>
            <a:r>
              <a:rPr lang="en-US" sz="2400">
                <a:solidFill>
                  <a:schemeClr val="bg1"/>
                </a:solidFill>
              </a:rPr>
              <a:t>step </a:t>
            </a:r>
            <a:r>
              <a:rPr lang="en-US">
                <a:solidFill>
                  <a:schemeClr val="bg1"/>
                </a:solidFill>
              </a:rPr>
              <a:t>→ </a:t>
            </a:r>
            <a:r>
              <a:rPr lang="en-US" err="1">
                <a:solidFill>
                  <a:schemeClr val="bg1"/>
                </a:solidFill>
              </a:rPr>
              <a:t>isFraud</a:t>
            </a:r>
            <a:r>
              <a:rPr lang="en-US">
                <a:solidFill>
                  <a:schemeClr val="bg1"/>
                </a:solidFill>
              </a:rPr>
              <a:t> = 0.83This is a very high positive correlation. It means frauds happen more often at specific time steps (blocks of hours).This makes step an important feature for your model.</a:t>
            </a:r>
            <a:endParaRPr lang="en-IN">
              <a:solidFill>
                <a:schemeClr val="bg1"/>
              </a:solidFill>
            </a:endParaRPr>
          </a:p>
        </p:txBody>
      </p:sp>
      <p:sp>
        <p:nvSpPr>
          <p:cNvPr id="12" name="Rectangle 11">
            <a:extLst>
              <a:ext uri="{FF2B5EF4-FFF2-40B4-BE49-F238E27FC236}">
                <a16:creationId xmlns:a16="http://schemas.microsoft.com/office/drawing/2014/main" id="{118FEC74-2FE6-4A22-B9B7-E4EB95F14605}"/>
              </a:ext>
            </a:extLst>
          </p:cNvPr>
          <p:cNvSpPr/>
          <p:nvPr/>
        </p:nvSpPr>
        <p:spPr>
          <a:xfrm>
            <a:off x="8314303" y="2791326"/>
            <a:ext cx="3877697" cy="1200329"/>
          </a:xfrm>
          <a:prstGeom prst="rect">
            <a:avLst/>
          </a:prstGeom>
        </p:spPr>
        <p:txBody>
          <a:bodyPr wrap="square">
            <a:spAutoFit/>
          </a:bodyPr>
          <a:lstStyle/>
          <a:p>
            <a:r>
              <a:rPr lang="en-IN" err="1">
                <a:solidFill>
                  <a:schemeClr val="bg1"/>
                </a:solidFill>
              </a:rPr>
              <a:t>oldbalanceDest</a:t>
            </a:r>
            <a:r>
              <a:rPr lang="en-IN">
                <a:solidFill>
                  <a:schemeClr val="bg1"/>
                </a:solidFill>
              </a:rPr>
              <a:t>  and </a:t>
            </a:r>
            <a:r>
              <a:rPr lang="en-IN" err="1">
                <a:solidFill>
                  <a:schemeClr val="bg1"/>
                </a:solidFill>
              </a:rPr>
              <a:t>newbalanceDest</a:t>
            </a:r>
            <a:r>
              <a:rPr lang="en-IN">
                <a:solidFill>
                  <a:schemeClr val="bg1"/>
                </a:solidFill>
              </a:rPr>
              <a:t> </a:t>
            </a:r>
          </a:p>
          <a:p>
            <a:r>
              <a:rPr lang="en-US">
                <a:solidFill>
                  <a:schemeClr val="bg1"/>
                </a:solidFill>
              </a:rPr>
              <a:t>are highly correlated.so  we can remove one of them.</a:t>
            </a:r>
          </a:p>
          <a:p>
            <a:endParaRPr lang="en-IN">
              <a:solidFill>
                <a:schemeClr val="bg1"/>
              </a:solidFill>
            </a:endParaRPr>
          </a:p>
        </p:txBody>
      </p:sp>
      <p:sp>
        <p:nvSpPr>
          <p:cNvPr id="13" name="Arrow: Right 12">
            <a:extLst>
              <a:ext uri="{FF2B5EF4-FFF2-40B4-BE49-F238E27FC236}">
                <a16:creationId xmlns:a16="http://schemas.microsoft.com/office/drawing/2014/main" id="{4557BE42-A21F-4B0D-BC3D-08F29A6A05A9}"/>
              </a:ext>
            </a:extLst>
          </p:cNvPr>
          <p:cNvSpPr/>
          <p:nvPr/>
        </p:nvSpPr>
        <p:spPr>
          <a:xfrm>
            <a:off x="7542036" y="2872175"/>
            <a:ext cx="449179" cy="484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64CBACEF-643C-4788-9C71-4B5B0B814C60}"/>
              </a:ext>
            </a:extLst>
          </p:cNvPr>
          <p:cNvSpPr/>
          <p:nvPr/>
        </p:nvSpPr>
        <p:spPr>
          <a:xfrm>
            <a:off x="8117305" y="4489557"/>
            <a:ext cx="3488904" cy="1200329"/>
          </a:xfrm>
          <a:prstGeom prst="rect">
            <a:avLst/>
          </a:prstGeom>
        </p:spPr>
        <p:txBody>
          <a:bodyPr wrap="none">
            <a:spAutoFit/>
          </a:bodyPr>
          <a:lstStyle/>
          <a:p>
            <a:r>
              <a:rPr lang="en-US" err="1">
                <a:solidFill>
                  <a:schemeClr val="bg1"/>
                </a:solidFill>
              </a:rPr>
              <a:t>newbalanceDest</a:t>
            </a:r>
            <a:r>
              <a:rPr lang="en-US">
                <a:solidFill>
                  <a:schemeClr val="bg1"/>
                </a:solidFill>
              </a:rPr>
              <a:t> has no correlation</a:t>
            </a:r>
          </a:p>
          <a:p>
            <a:r>
              <a:rPr lang="en-US">
                <a:solidFill>
                  <a:schemeClr val="bg1"/>
                </a:solidFill>
              </a:rPr>
              <a:t>with Target .So we can drop this </a:t>
            </a:r>
          </a:p>
          <a:p>
            <a:r>
              <a:rPr lang="en-US">
                <a:solidFill>
                  <a:schemeClr val="bg1"/>
                </a:solidFill>
              </a:rPr>
              <a:t>Feature.</a:t>
            </a:r>
          </a:p>
          <a:p>
            <a:endParaRPr lang="en-IN">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3A06D704-1BAB-4971-986B-7C983E8AD2EB}"/>
              </a:ext>
            </a:extLst>
          </p:cNvPr>
          <p:cNvSpPr>
            <a:spLocks noGrp="1"/>
          </p:cNvSpPr>
          <p:nvPr>
            <p:ph idx="1"/>
          </p:nvPr>
        </p:nvSpPr>
        <p:spPr>
          <a:xfrm>
            <a:off x="593557" y="1154369"/>
            <a:ext cx="10834234" cy="4540578"/>
          </a:xfrm>
        </p:spPr>
        <p:txBody>
          <a:bodyPr/>
          <a:lstStyle/>
          <a:p>
            <a:endParaRPr lang="en-US"/>
          </a:p>
          <a:p>
            <a:r>
              <a:rPr lang="en-US">
                <a:solidFill>
                  <a:schemeClr val="bg2">
                    <a:lumMod val="25000"/>
                  </a:schemeClr>
                </a:solidFill>
              </a:rPr>
              <a:t>Feature engineering was applied to create new features and transform existing ones to improve the model's ability to detect fraud.</a:t>
            </a:r>
          </a:p>
          <a:p>
            <a:r>
              <a:rPr lang="en-US">
                <a:solidFill>
                  <a:schemeClr val="bg2">
                    <a:lumMod val="25000"/>
                  </a:schemeClr>
                </a:solidFill>
              </a:rPr>
              <a:t>New feature: 1) </a:t>
            </a:r>
            <a:r>
              <a:rPr lang="en-US" err="1">
                <a:solidFill>
                  <a:schemeClr val="bg2">
                    <a:lumMod val="25000"/>
                  </a:schemeClr>
                </a:solidFill>
              </a:rPr>
              <a:t>origDiff</a:t>
            </a:r>
            <a:r>
              <a:rPr lang="en-IN">
                <a:solidFill>
                  <a:schemeClr val="bg2">
                    <a:lumMod val="25000"/>
                  </a:schemeClr>
                </a:solidFill>
              </a:rPr>
              <a:t> </a:t>
            </a:r>
            <a:endParaRPr lang="en-US">
              <a:solidFill>
                <a:schemeClr val="bg2">
                  <a:lumMod val="25000"/>
                </a:schemeClr>
              </a:solidFill>
            </a:endParaRPr>
          </a:p>
          <a:p>
            <a:pPr marL="0" indent="0">
              <a:buNone/>
            </a:pPr>
            <a:r>
              <a:rPr lang="en-US">
                <a:solidFill>
                  <a:schemeClr val="bg2">
                    <a:lumMod val="25000"/>
                  </a:schemeClr>
                </a:solidFill>
              </a:rPr>
              <a:t>                           2) </a:t>
            </a:r>
            <a:r>
              <a:rPr lang="en-US" err="1">
                <a:solidFill>
                  <a:schemeClr val="bg2">
                    <a:lumMod val="25000"/>
                  </a:schemeClr>
                </a:solidFill>
              </a:rPr>
              <a:t>destDiff</a:t>
            </a:r>
            <a:endParaRPr lang="en-US">
              <a:solidFill>
                <a:schemeClr val="bg2">
                  <a:lumMod val="25000"/>
                </a:schemeClr>
              </a:solidFill>
            </a:endParaRPr>
          </a:p>
          <a:p>
            <a:endParaRPr lang="en-US">
              <a:solidFill>
                <a:schemeClr val="bg2">
                  <a:lumMod val="25000"/>
                </a:schemeClr>
              </a:solidFill>
            </a:endParaRPr>
          </a:p>
          <a:p>
            <a:r>
              <a:rPr lang="en-US">
                <a:solidFill>
                  <a:schemeClr val="bg2">
                    <a:lumMod val="25000"/>
                  </a:schemeClr>
                </a:solidFill>
              </a:rPr>
              <a:t>df['</a:t>
            </a:r>
            <a:r>
              <a:rPr lang="en-US" err="1">
                <a:solidFill>
                  <a:schemeClr val="bg2">
                    <a:lumMod val="25000"/>
                  </a:schemeClr>
                </a:solidFill>
              </a:rPr>
              <a:t>origDiff</a:t>
            </a:r>
            <a:r>
              <a:rPr lang="en-US">
                <a:solidFill>
                  <a:schemeClr val="bg2">
                    <a:lumMod val="25000"/>
                  </a:schemeClr>
                </a:solidFill>
              </a:rPr>
              <a:t>'] = df['</a:t>
            </a:r>
            <a:r>
              <a:rPr lang="en-US" err="1">
                <a:solidFill>
                  <a:schemeClr val="bg2">
                    <a:lumMod val="25000"/>
                  </a:schemeClr>
                </a:solidFill>
              </a:rPr>
              <a:t>oldbalanceOrg</a:t>
            </a:r>
            <a:r>
              <a:rPr lang="en-US">
                <a:solidFill>
                  <a:schemeClr val="bg2">
                    <a:lumMod val="25000"/>
                  </a:schemeClr>
                </a:solidFill>
              </a:rPr>
              <a:t>'] - df['</a:t>
            </a:r>
            <a:r>
              <a:rPr lang="en-US" err="1">
                <a:solidFill>
                  <a:schemeClr val="bg2">
                    <a:lumMod val="25000"/>
                  </a:schemeClr>
                </a:solidFill>
              </a:rPr>
              <a:t>newbalanceOrig</a:t>
            </a:r>
            <a:r>
              <a:rPr lang="en-US">
                <a:solidFill>
                  <a:schemeClr val="bg2">
                    <a:lumMod val="25000"/>
                  </a:schemeClr>
                </a:solidFill>
              </a:rPr>
              <a:t>’]</a:t>
            </a:r>
          </a:p>
          <a:p>
            <a:r>
              <a:rPr lang="en-IN">
                <a:solidFill>
                  <a:schemeClr val="bg2">
                    <a:lumMod val="25000"/>
                  </a:schemeClr>
                </a:solidFill>
              </a:rPr>
              <a:t>df['</a:t>
            </a:r>
            <a:r>
              <a:rPr lang="en-IN" err="1">
                <a:solidFill>
                  <a:schemeClr val="bg2">
                    <a:lumMod val="25000"/>
                  </a:schemeClr>
                </a:solidFill>
              </a:rPr>
              <a:t>destDiff</a:t>
            </a:r>
            <a:r>
              <a:rPr lang="en-IN">
                <a:solidFill>
                  <a:schemeClr val="bg2">
                    <a:lumMod val="25000"/>
                  </a:schemeClr>
                </a:solidFill>
              </a:rPr>
              <a:t>'] = df['</a:t>
            </a:r>
            <a:r>
              <a:rPr lang="en-IN" err="1">
                <a:solidFill>
                  <a:schemeClr val="bg2">
                    <a:lumMod val="25000"/>
                  </a:schemeClr>
                </a:solidFill>
              </a:rPr>
              <a:t>oldbalanceDest</a:t>
            </a:r>
            <a:r>
              <a:rPr lang="en-IN">
                <a:solidFill>
                  <a:schemeClr val="bg2">
                    <a:lumMod val="25000"/>
                  </a:schemeClr>
                </a:solidFill>
              </a:rPr>
              <a:t>'] - df['</a:t>
            </a:r>
            <a:r>
              <a:rPr lang="en-IN" err="1">
                <a:solidFill>
                  <a:schemeClr val="bg2">
                    <a:lumMod val="25000"/>
                  </a:schemeClr>
                </a:solidFill>
              </a:rPr>
              <a:t>newbalanceDest</a:t>
            </a:r>
            <a:r>
              <a:rPr lang="en-IN">
                <a:solidFill>
                  <a:schemeClr val="bg2">
                    <a:lumMod val="25000"/>
                  </a:schemeClr>
                </a:solidFill>
              </a:rPr>
              <a:t>']</a:t>
            </a:r>
          </a:p>
        </p:txBody>
      </p:sp>
      <p:sp>
        <p:nvSpPr>
          <p:cNvPr id="14" name="Rectangle 13">
            <a:extLst>
              <a:ext uri="{FF2B5EF4-FFF2-40B4-BE49-F238E27FC236}">
                <a16:creationId xmlns:a16="http://schemas.microsoft.com/office/drawing/2014/main" id="{6412C0CB-5215-4755-9D54-D1008BB6BBFC}"/>
              </a:ext>
            </a:extLst>
          </p:cNvPr>
          <p:cNvSpPr/>
          <p:nvPr/>
        </p:nvSpPr>
        <p:spPr>
          <a:xfrm>
            <a:off x="593557" y="455167"/>
            <a:ext cx="6096000" cy="707886"/>
          </a:xfrm>
          <a:prstGeom prst="rect">
            <a:avLst/>
          </a:prstGeom>
        </p:spPr>
        <p:txBody>
          <a:bodyPr>
            <a:spAutoFit/>
          </a:bodyPr>
          <a:lstStyle/>
          <a:p>
            <a:r>
              <a:rPr lang="en-US" sz="4000" b="1" u="sng"/>
              <a:t>Feature Engineering</a:t>
            </a:r>
          </a:p>
        </p:txBody>
      </p:sp>
    </p:spTree>
    <p:extLst>
      <p:ext uri="{BB962C8B-B14F-4D97-AF65-F5344CB8AC3E}">
        <p14:creationId xmlns:p14="http://schemas.microsoft.com/office/powerpoint/2010/main" val="28459924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3DE9678-17BC-46F2-BE74-7EAE8C5C1BCD}"/>
              </a:ext>
            </a:extLst>
          </p:cNvPr>
          <p:cNvSpPr/>
          <p:nvPr/>
        </p:nvSpPr>
        <p:spPr>
          <a:xfrm>
            <a:off x="368967" y="1403553"/>
            <a:ext cx="11646570" cy="4339650"/>
          </a:xfrm>
          <a:prstGeom prst="rect">
            <a:avLst/>
          </a:prstGeom>
        </p:spPr>
        <p:txBody>
          <a:bodyPr wrap="square">
            <a:spAutoFit/>
          </a:bodyPr>
          <a:lstStyle/>
          <a:p>
            <a:pPr>
              <a:defRPr sz="2000">
                <a:solidFill>
                  <a:srgbClr val="FFFFFF"/>
                </a:solidFill>
              </a:defRPr>
            </a:pPr>
            <a:r>
              <a:rPr lang="en-US" sz="2800">
                <a:solidFill>
                  <a:schemeClr val="bg2">
                    <a:lumMod val="25000"/>
                  </a:schemeClr>
                </a:solidFill>
              </a:rPr>
              <a:t>• Dropped irrelevant columns</a:t>
            </a:r>
          </a:p>
          <a:p>
            <a:pPr>
              <a:defRPr sz="2000">
                <a:solidFill>
                  <a:srgbClr val="FFFFFF"/>
                </a:solidFill>
              </a:defRPr>
            </a:pPr>
            <a:r>
              <a:rPr lang="en-US" sz="2000">
                <a:solidFill>
                  <a:schemeClr val="bg2">
                    <a:lumMod val="25000"/>
                  </a:schemeClr>
                </a:solidFill>
              </a:rPr>
              <a:t>     </a:t>
            </a:r>
            <a:r>
              <a:rPr lang="en-US" sz="2000" err="1">
                <a:solidFill>
                  <a:schemeClr val="bg2">
                    <a:lumMod val="25000"/>
                  </a:schemeClr>
                </a:solidFill>
              </a:rPr>
              <a:t>df.drop</a:t>
            </a:r>
            <a:r>
              <a:rPr lang="en-US" sz="2000">
                <a:solidFill>
                  <a:schemeClr val="bg2">
                    <a:lumMod val="25000"/>
                  </a:schemeClr>
                </a:solidFill>
              </a:rPr>
              <a:t>(["</a:t>
            </a:r>
            <a:r>
              <a:rPr lang="en-US" sz="2000" err="1">
                <a:solidFill>
                  <a:schemeClr val="bg2">
                    <a:lumMod val="25000"/>
                  </a:schemeClr>
                </a:solidFill>
              </a:rPr>
              <a:t>nameOrig</a:t>
            </a:r>
            <a:r>
              <a:rPr lang="en-US" sz="2000">
                <a:solidFill>
                  <a:schemeClr val="bg2">
                    <a:lumMod val="25000"/>
                  </a:schemeClr>
                </a:solidFill>
              </a:rPr>
              <a:t>","</a:t>
            </a:r>
            <a:r>
              <a:rPr lang="en-US" sz="2000" err="1">
                <a:solidFill>
                  <a:schemeClr val="bg2">
                    <a:lumMod val="25000"/>
                  </a:schemeClr>
                </a:solidFill>
              </a:rPr>
              <a:t>nameDest</a:t>
            </a:r>
            <a:r>
              <a:rPr lang="en-US" sz="2000">
                <a:solidFill>
                  <a:schemeClr val="bg2">
                    <a:lumMod val="25000"/>
                  </a:schemeClr>
                </a:solidFill>
              </a:rPr>
              <a:t>","</a:t>
            </a:r>
            <a:r>
              <a:rPr lang="en-US" sz="2000" err="1">
                <a:solidFill>
                  <a:schemeClr val="bg2">
                    <a:lumMod val="25000"/>
                  </a:schemeClr>
                </a:solidFill>
              </a:rPr>
              <a:t>newbalanceDest</a:t>
            </a:r>
            <a:r>
              <a:rPr lang="en-US" sz="2000">
                <a:solidFill>
                  <a:schemeClr val="bg2">
                    <a:lumMod val="25000"/>
                  </a:schemeClr>
                </a:solidFill>
              </a:rPr>
              <a:t>","</a:t>
            </a:r>
            <a:r>
              <a:rPr lang="en-US" sz="2000" err="1">
                <a:solidFill>
                  <a:schemeClr val="bg2">
                    <a:lumMod val="25000"/>
                  </a:schemeClr>
                </a:solidFill>
              </a:rPr>
              <a:t>oldbalanceDest</a:t>
            </a:r>
            <a:r>
              <a:rPr lang="en-US" sz="2000">
                <a:solidFill>
                  <a:schemeClr val="bg2">
                    <a:lumMod val="25000"/>
                  </a:schemeClr>
                </a:solidFill>
              </a:rPr>
              <a:t>"],axis=1,inplace=True)</a:t>
            </a:r>
          </a:p>
          <a:p>
            <a:pPr>
              <a:defRPr sz="2000">
                <a:solidFill>
                  <a:srgbClr val="FFFFFF"/>
                </a:solidFill>
              </a:defRPr>
            </a:pPr>
            <a:endParaRPr lang="en-US" sz="2800">
              <a:solidFill>
                <a:schemeClr val="bg2">
                  <a:lumMod val="25000"/>
                </a:schemeClr>
              </a:solidFill>
            </a:endParaRPr>
          </a:p>
          <a:p>
            <a:pPr>
              <a:defRPr sz="2000">
                <a:solidFill>
                  <a:srgbClr val="FFFFFF"/>
                </a:solidFill>
              </a:defRPr>
            </a:pPr>
            <a:r>
              <a:rPr lang="en-US" sz="2800">
                <a:solidFill>
                  <a:schemeClr val="bg2">
                    <a:lumMod val="25000"/>
                  </a:schemeClr>
                </a:solidFill>
              </a:rPr>
              <a:t>• Encoded categorical variables</a:t>
            </a:r>
          </a:p>
          <a:p>
            <a:pPr>
              <a:defRPr sz="2000">
                <a:solidFill>
                  <a:srgbClr val="FFFFFF"/>
                </a:solidFill>
              </a:defRPr>
            </a:pPr>
            <a:r>
              <a:rPr lang="en-US">
                <a:solidFill>
                  <a:schemeClr val="bg2">
                    <a:lumMod val="25000"/>
                  </a:schemeClr>
                </a:solidFill>
              </a:rPr>
              <a:t>    </a:t>
            </a:r>
            <a:r>
              <a:rPr lang="en-US" err="1">
                <a:solidFill>
                  <a:schemeClr val="bg2">
                    <a:lumMod val="25000"/>
                  </a:schemeClr>
                </a:solidFill>
              </a:rPr>
              <a:t>new_cat_col</a:t>
            </a:r>
            <a:r>
              <a:rPr lang="en-US">
                <a:solidFill>
                  <a:schemeClr val="bg2">
                    <a:lumMod val="25000"/>
                  </a:schemeClr>
                </a:solidFill>
              </a:rPr>
              <a:t>=</a:t>
            </a:r>
            <a:r>
              <a:rPr lang="en-US" err="1">
                <a:solidFill>
                  <a:schemeClr val="bg2">
                    <a:lumMod val="25000"/>
                  </a:schemeClr>
                </a:solidFill>
              </a:rPr>
              <a:t>df.select_dtypes</a:t>
            </a:r>
            <a:r>
              <a:rPr lang="en-US">
                <a:solidFill>
                  <a:schemeClr val="bg2">
                    <a:lumMod val="25000"/>
                  </a:schemeClr>
                </a:solidFill>
              </a:rPr>
              <a:t>(include="object").columns</a:t>
            </a:r>
          </a:p>
          <a:p>
            <a:pPr>
              <a:defRPr sz="2000">
                <a:solidFill>
                  <a:srgbClr val="FFFFFF"/>
                </a:solidFill>
              </a:defRPr>
            </a:pPr>
            <a:r>
              <a:rPr lang="en-US">
                <a:solidFill>
                  <a:schemeClr val="bg2">
                    <a:lumMod val="25000"/>
                  </a:schemeClr>
                </a:solidFill>
              </a:rPr>
              <a:t>    for col in </a:t>
            </a:r>
            <a:r>
              <a:rPr lang="en-US" err="1">
                <a:solidFill>
                  <a:schemeClr val="bg2">
                    <a:lumMod val="25000"/>
                  </a:schemeClr>
                </a:solidFill>
              </a:rPr>
              <a:t>new_cat_col</a:t>
            </a:r>
            <a:r>
              <a:rPr lang="en-US">
                <a:solidFill>
                  <a:schemeClr val="bg2">
                    <a:lumMod val="25000"/>
                  </a:schemeClr>
                </a:solidFill>
              </a:rPr>
              <a:t>:</a:t>
            </a:r>
          </a:p>
          <a:p>
            <a:pPr>
              <a:defRPr sz="2000">
                <a:solidFill>
                  <a:srgbClr val="FFFFFF"/>
                </a:solidFill>
              </a:defRPr>
            </a:pPr>
            <a:r>
              <a:rPr lang="en-US">
                <a:solidFill>
                  <a:schemeClr val="bg2">
                    <a:lumMod val="25000"/>
                  </a:schemeClr>
                </a:solidFill>
              </a:rPr>
              <a:t>        df[col]=</a:t>
            </a:r>
            <a:r>
              <a:rPr lang="en-US" err="1">
                <a:solidFill>
                  <a:schemeClr val="bg2">
                    <a:lumMod val="25000"/>
                  </a:schemeClr>
                </a:solidFill>
              </a:rPr>
              <a:t>LabelEncoder</a:t>
            </a:r>
            <a:r>
              <a:rPr lang="en-US">
                <a:solidFill>
                  <a:schemeClr val="bg2">
                    <a:lumMod val="25000"/>
                  </a:schemeClr>
                </a:solidFill>
              </a:rPr>
              <a:t>().</a:t>
            </a:r>
            <a:r>
              <a:rPr lang="en-US" err="1">
                <a:solidFill>
                  <a:schemeClr val="bg2">
                    <a:lumMod val="25000"/>
                  </a:schemeClr>
                </a:solidFill>
              </a:rPr>
              <a:t>fit_transform</a:t>
            </a:r>
            <a:r>
              <a:rPr lang="en-US">
                <a:solidFill>
                  <a:schemeClr val="bg2">
                    <a:lumMod val="25000"/>
                  </a:schemeClr>
                </a:solidFill>
              </a:rPr>
              <a:t>(df[col])</a:t>
            </a:r>
          </a:p>
          <a:p>
            <a:pPr>
              <a:defRPr sz="2000">
                <a:solidFill>
                  <a:srgbClr val="FFFFFF"/>
                </a:solidFill>
              </a:defRPr>
            </a:pPr>
            <a:endParaRPr lang="en-US" sz="2800">
              <a:solidFill>
                <a:schemeClr val="bg2">
                  <a:lumMod val="25000"/>
                </a:schemeClr>
              </a:solidFill>
            </a:endParaRPr>
          </a:p>
          <a:p>
            <a:pPr>
              <a:defRPr sz="2000">
                <a:solidFill>
                  <a:srgbClr val="FFFFFF"/>
                </a:solidFill>
              </a:defRPr>
            </a:pPr>
            <a:r>
              <a:rPr lang="en-US" sz="2800">
                <a:solidFill>
                  <a:schemeClr val="bg2">
                    <a:lumMod val="25000"/>
                  </a:schemeClr>
                </a:solidFill>
              </a:rPr>
              <a:t>• Handle outliers using </a:t>
            </a:r>
            <a:r>
              <a:rPr lang="en-US" sz="2800" err="1">
                <a:solidFill>
                  <a:schemeClr val="bg2">
                    <a:lumMod val="25000"/>
                  </a:schemeClr>
                </a:solidFill>
              </a:rPr>
              <a:t>RobustScaler</a:t>
            </a:r>
            <a:r>
              <a:rPr lang="en-US" sz="2800">
                <a:solidFill>
                  <a:schemeClr val="bg2">
                    <a:lumMod val="25000"/>
                  </a:schemeClr>
                </a:solidFill>
              </a:rPr>
              <a:t>()</a:t>
            </a:r>
          </a:p>
          <a:p>
            <a:pPr>
              <a:defRPr sz="2000">
                <a:solidFill>
                  <a:srgbClr val="FFFFFF"/>
                </a:solidFill>
              </a:defRPr>
            </a:pPr>
            <a:r>
              <a:rPr lang="en-US" sz="2800">
                <a:solidFill>
                  <a:schemeClr val="bg2">
                    <a:lumMod val="25000"/>
                  </a:schemeClr>
                </a:solidFill>
              </a:rPr>
              <a:t>   </a:t>
            </a:r>
            <a:r>
              <a:rPr lang="en-US">
                <a:solidFill>
                  <a:schemeClr val="bg2">
                    <a:lumMod val="25000"/>
                  </a:schemeClr>
                </a:solidFill>
              </a:rPr>
              <a:t>df[</a:t>
            </a:r>
            <a:r>
              <a:rPr lang="en-US" err="1">
                <a:solidFill>
                  <a:schemeClr val="bg2">
                    <a:lumMod val="25000"/>
                  </a:schemeClr>
                </a:solidFill>
              </a:rPr>
              <a:t>new_num_col</a:t>
            </a:r>
            <a:r>
              <a:rPr lang="en-US">
                <a:solidFill>
                  <a:schemeClr val="bg2">
                    <a:lumMod val="25000"/>
                  </a:schemeClr>
                </a:solidFill>
              </a:rPr>
              <a:t>]=</a:t>
            </a:r>
            <a:r>
              <a:rPr lang="en-US" err="1">
                <a:solidFill>
                  <a:schemeClr val="bg2">
                    <a:lumMod val="25000"/>
                  </a:schemeClr>
                </a:solidFill>
              </a:rPr>
              <a:t>RobustScaler</a:t>
            </a:r>
            <a:r>
              <a:rPr lang="en-US">
                <a:solidFill>
                  <a:schemeClr val="bg2">
                    <a:lumMod val="25000"/>
                  </a:schemeClr>
                </a:solidFill>
              </a:rPr>
              <a:t>().</a:t>
            </a:r>
            <a:r>
              <a:rPr lang="en-US" err="1">
                <a:solidFill>
                  <a:schemeClr val="bg2">
                    <a:lumMod val="25000"/>
                  </a:schemeClr>
                </a:solidFill>
              </a:rPr>
              <a:t>fit_transform</a:t>
            </a:r>
            <a:r>
              <a:rPr lang="en-US">
                <a:solidFill>
                  <a:schemeClr val="bg2">
                    <a:lumMod val="25000"/>
                  </a:schemeClr>
                </a:solidFill>
              </a:rPr>
              <a:t>(df[</a:t>
            </a:r>
            <a:r>
              <a:rPr lang="en-US" err="1">
                <a:solidFill>
                  <a:schemeClr val="bg2">
                    <a:lumMod val="25000"/>
                  </a:schemeClr>
                </a:solidFill>
              </a:rPr>
              <a:t>new_num_col</a:t>
            </a:r>
            <a:r>
              <a:rPr lang="en-US">
                <a:solidFill>
                  <a:schemeClr val="bg2">
                    <a:lumMod val="25000"/>
                  </a:schemeClr>
                </a:solidFill>
              </a:rPr>
              <a:t>])</a:t>
            </a:r>
            <a:endParaRPr lang="en-US" sz="2800">
              <a:solidFill>
                <a:schemeClr val="bg2">
                  <a:lumMod val="25000"/>
                </a:schemeClr>
              </a:solidFill>
            </a:endParaRPr>
          </a:p>
          <a:p>
            <a:pPr>
              <a:defRPr sz="2000">
                <a:solidFill>
                  <a:srgbClr val="FFFFFF"/>
                </a:solidFill>
              </a:defRPr>
            </a:pPr>
            <a:endParaRPr lang="en-US" sz="2800">
              <a:solidFill>
                <a:schemeClr val="bg2">
                  <a:lumMod val="25000"/>
                </a:schemeClr>
              </a:solidFill>
            </a:endParaRPr>
          </a:p>
        </p:txBody>
      </p:sp>
      <p:sp>
        <p:nvSpPr>
          <p:cNvPr id="12" name="Rectangle 11">
            <a:extLst>
              <a:ext uri="{FF2B5EF4-FFF2-40B4-BE49-F238E27FC236}">
                <a16:creationId xmlns:a16="http://schemas.microsoft.com/office/drawing/2014/main" id="{9FD7A2BF-7D4B-40BE-B4A5-30EA58926CF9}"/>
              </a:ext>
            </a:extLst>
          </p:cNvPr>
          <p:cNvSpPr/>
          <p:nvPr/>
        </p:nvSpPr>
        <p:spPr>
          <a:xfrm>
            <a:off x="368967" y="508442"/>
            <a:ext cx="2852448" cy="646331"/>
          </a:xfrm>
          <a:prstGeom prst="rect">
            <a:avLst/>
          </a:prstGeom>
        </p:spPr>
        <p:txBody>
          <a:bodyPr wrap="none">
            <a:spAutoFit/>
          </a:bodyPr>
          <a:lstStyle/>
          <a:p>
            <a:pPr>
              <a:defRPr sz="3200" b="1">
                <a:solidFill>
                  <a:srgbClr val="FFFFFF"/>
                </a:solidFill>
              </a:defRPr>
            </a:pPr>
            <a:r>
              <a:rPr lang="en-US" sz="3600" u="sng">
                <a:solidFill>
                  <a:schemeClr val="bg2">
                    <a:lumMod val="10000"/>
                  </a:schemeClr>
                </a:solidFill>
              </a:rPr>
              <a:t>Preprocessing</a:t>
            </a:r>
            <a:endParaRPr lang="en-IN" sz="3600" u="sng">
              <a:solidFill>
                <a:schemeClr val="bg2">
                  <a:lumMod val="10000"/>
                </a:schemeClr>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C02C28D-4701-40DD-A457-B0F8B0F2E418}"/>
              </a:ext>
            </a:extLst>
          </p:cNvPr>
          <p:cNvSpPr/>
          <p:nvPr/>
        </p:nvSpPr>
        <p:spPr>
          <a:xfrm>
            <a:off x="352925" y="1228909"/>
            <a:ext cx="9432759" cy="830997"/>
          </a:xfrm>
          <a:prstGeom prst="rect">
            <a:avLst/>
          </a:prstGeom>
        </p:spPr>
        <p:txBody>
          <a:bodyPr wrap="square">
            <a:spAutoFit/>
          </a:bodyPr>
          <a:lstStyle/>
          <a:p>
            <a:r>
              <a:rPr lang="en-US" sz="2400">
                <a:solidFill>
                  <a:srgbClr val="000000"/>
                </a:solidFill>
                <a:latin typeface="__Inter_bdbe8e"/>
              </a:rPr>
              <a:t>&gt;&gt; A range of machine learning algorithms were tested to identify the           </a:t>
            </a:r>
          </a:p>
          <a:p>
            <a:r>
              <a:rPr lang="en-US" sz="2400">
                <a:solidFill>
                  <a:srgbClr val="000000"/>
                </a:solidFill>
                <a:latin typeface="__Inter_bdbe8e"/>
              </a:rPr>
              <a:t>     best fit for detecting fraudulent activities.</a:t>
            </a:r>
            <a:endParaRPr lang="en-US" sz="2400" b="0" i="0">
              <a:solidFill>
                <a:srgbClr val="000000"/>
              </a:solidFill>
              <a:effectLst/>
              <a:latin typeface="__Inter_bdbe8e"/>
            </a:endParaRPr>
          </a:p>
        </p:txBody>
      </p:sp>
      <p:sp>
        <p:nvSpPr>
          <p:cNvPr id="8" name="Rectangle 7">
            <a:extLst>
              <a:ext uri="{FF2B5EF4-FFF2-40B4-BE49-F238E27FC236}">
                <a16:creationId xmlns:a16="http://schemas.microsoft.com/office/drawing/2014/main" id="{D17231B2-4947-4ACA-A03B-D47CFA135F37}"/>
              </a:ext>
            </a:extLst>
          </p:cNvPr>
          <p:cNvSpPr/>
          <p:nvPr/>
        </p:nvSpPr>
        <p:spPr>
          <a:xfrm>
            <a:off x="732380" y="533219"/>
            <a:ext cx="5120120" cy="584775"/>
          </a:xfrm>
          <a:prstGeom prst="rect">
            <a:avLst/>
          </a:prstGeom>
        </p:spPr>
        <p:txBody>
          <a:bodyPr wrap="none">
            <a:spAutoFit/>
          </a:bodyPr>
          <a:lstStyle/>
          <a:p>
            <a:r>
              <a:rPr lang="en-IN" sz="3200" u="sng"/>
              <a:t>Model Selection and Training </a:t>
            </a:r>
          </a:p>
        </p:txBody>
      </p:sp>
      <p:sp>
        <p:nvSpPr>
          <p:cNvPr id="13" name="Rectangle 12">
            <a:extLst>
              <a:ext uri="{FF2B5EF4-FFF2-40B4-BE49-F238E27FC236}">
                <a16:creationId xmlns:a16="http://schemas.microsoft.com/office/drawing/2014/main" id="{B44AC323-DBA0-44D4-9D7F-819394036657}"/>
              </a:ext>
            </a:extLst>
          </p:cNvPr>
          <p:cNvSpPr/>
          <p:nvPr/>
        </p:nvSpPr>
        <p:spPr>
          <a:xfrm>
            <a:off x="2381237" y="3097810"/>
            <a:ext cx="1428724" cy="707886"/>
          </a:xfrm>
          <a:prstGeom prst="rect">
            <a:avLst/>
          </a:prstGeom>
        </p:spPr>
        <p:txBody>
          <a:bodyPr wrap="none">
            <a:spAutoFit/>
          </a:bodyPr>
          <a:lstStyle/>
          <a:p>
            <a:r>
              <a:rPr lang="en-US" sz="2000">
                <a:solidFill>
                  <a:srgbClr val="000000"/>
                </a:solidFill>
                <a:latin typeface="__Inter_bdbe8e"/>
              </a:rPr>
              <a:t>   Logistic</a:t>
            </a:r>
          </a:p>
          <a:p>
            <a:r>
              <a:rPr lang="en-US" sz="2000">
                <a:solidFill>
                  <a:srgbClr val="000000"/>
                </a:solidFill>
                <a:latin typeface="__Inter_bdbe8e"/>
              </a:rPr>
              <a:t> Regression </a:t>
            </a:r>
            <a:endParaRPr lang="en-IN" sz="2000"/>
          </a:p>
        </p:txBody>
      </p:sp>
      <p:sp>
        <p:nvSpPr>
          <p:cNvPr id="14" name="Rectangle 13">
            <a:extLst>
              <a:ext uri="{FF2B5EF4-FFF2-40B4-BE49-F238E27FC236}">
                <a16:creationId xmlns:a16="http://schemas.microsoft.com/office/drawing/2014/main" id="{A49AECC3-99AC-4FEE-B27D-CC12037A52A1}"/>
              </a:ext>
            </a:extLst>
          </p:cNvPr>
          <p:cNvSpPr/>
          <p:nvPr/>
        </p:nvSpPr>
        <p:spPr>
          <a:xfrm>
            <a:off x="4588040" y="3105834"/>
            <a:ext cx="1957137" cy="707886"/>
          </a:xfrm>
          <a:prstGeom prst="rect">
            <a:avLst/>
          </a:prstGeom>
        </p:spPr>
        <p:txBody>
          <a:bodyPr wrap="square">
            <a:spAutoFit/>
          </a:bodyPr>
          <a:lstStyle/>
          <a:p>
            <a:r>
              <a:rPr lang="en-US">
                <a:solidFill>
                  <a:srgbClr val="000000"/>
                </a:solidFill>
                <a:latin typeface="__Inter_bdbe8e"/>
              </a:rPr>
              <a:t> </a:t>
            </a:r>
            <a:r>
              <a:rPr lang="en-US" sz="2000">
                <a:solidFill>
                  <a:srgbClr val="000000"/>
                </a:solidFill>
                <a:latin typeface="__Inter_bdbe8e"/>
              </a:rPr>
              <a:t>Decision Tree</a:t>
            </a:r>
          </a:p>
          <a:p>
            <a:r>
              <a:rPr lang="en-US" sz="2000">
                <a:solidFill>
                  <a:srgbClr val="000000"/>
                </a:solidFill>
                <a:latin typeface="__Inter_bdbe8e"/>
              </a:rPr>
              <a:t>    Classifier</a:t>
            </a:r>
            <a:endParaRPr lang="en-IN" sz="2000"/>
          </a:p>
        </p:txBody>
      </p:sp>
      <p:sp>
        <p:nvSpPr>
          <p:cNvPr id="15" name="Rectangle 14">
            <a:extLst>
              <a:ext uri="{FF2B5EF4-FFF2-40B4-BE49-F238E27FC236}">
                <a16:creationId xmlns:a16="http://schemas.microsoft.com/office/drawing/2014/main" id="{B48789B6-8A0C-4F1F-AD2C-A853C0099BD1}"/>
              </a:ext>
            </a:extLst>
          </p:cNvPr>
          <p:cNvSpPr/>
          <p:nvPr/>
        </p:nvSpPr>
        <p:spPr>
          <a:xfrm>
            <a:off x="2106199" y="4723934"/>
            <a:ext cx="2133600" cy="707886"/>
          </a:xfrm>
          <a:prstGeom prst="rect">
            <a:avLst/>
          </a:prstGeom>
        </p:spPr>
        <p:txBody>
          <a:bodyPr wrap="square">
            <a:spAutoFit/>
          </a:bodyPr>
          <a:lstStyle/>
          <a:p>
            <a:r>
              <a:rPr lang="en-US" sz="2000"/>
              <a:t>Random Forest                           </a:t>
            </a:r>
          </a:p>
          <a:p>
            <a:r>
              <a:rPr lang="en-US" sz="2000"/>
              <a:t>   Classifier</a:t>
            </a:r>
          </a:p>
        </p:txBody>
      </p:sp>
      <p:sp>
        <p:nvSpPr>
          <p:cNvPr id="16" name="Rectangle 15">
            <a:extLst>
              <a:ext uri="{FF2B5EF4-FFF2-40B4-BE49-F238E27FC236}">
                <a16:creationId xmlns:a16="http://schemas.microsoft.com/office/drawing/2014/main" id="{AB50A01D-7076-4F61-AFEA-3A9142F3FE29}"/>
              </a:ext>
            </a:extLst>
          </p:cNvPr>
          <p:cNvSpPr/>
          <p:nvPr/>
        </p:nvSpPr>
        <p:spPr>
          <a:xfrm>
            <a:off x="4879163" y="4705761"/>
            <a:ext cx="1957137" cy="1015663"/>
          </a:xfrm>
          <a:prstGeom prst="rect">
            <a:avLst/>
          </a:prstGeom>
        </p:spPr>
        <p:txBody>
          <a:bodyPr wrap="square">
            <a:spAutoFit/>
          </a:bodyPr>
          <a:lstStyle/>
          <a:p>
            <a:r>
              <a:rPr lang="en-US"/>
              <a:t> </a:t>
            </a:r>
            <a:r>
              <a:rPr lang="en-US" sz="2000"/>
              <a:t>Support Vector</a:t>
            </a:r>
          </a:p>
          <a:p>
            <a:r>
              <a:rPr lang="en-US" sz="2000"/>
              <a:t>      Machine</a:t>
            </a:r>
          </a:p>
          <a:p>
            <a:r>
              <a:rPr lang="en-US" sz="2000"/>
              <a:t>       Classifier</a:t>
            </a:r>
          </a:p>
        </p:txBody>
      </p:sp>
      <p:sp>
        <p:nvSpPr>
          <p:cNvPr id="20" name="Block Arc 19">
            <a:extLst>
              <a:ext uri="{FF2B5EF4-FFF2-40B4-BE49-F238E27FC236}">
                <a16:creationId xmlns:a16="http://schemas.microsoft.com/office/drawing/2014/main" id="{8769910D-0921-4408-9D7F-FA0F6C715EAC}"/>
              </a:ext>
            </a:extLst>
          </p:cNvPr>
          <p:cNvSpPr/>
          <p:nvPr/>
        </p:nvSpPr>
        <p:spPr>
          <a:xfrm>
            <a:off x="3714569" y="2611512"/>
            <a:ext cx="914400" cy="914400"/>
          </a:xfrm>
          <a:prstGeom prst="blockArc">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4" name="Block Arc 23">
            <a:extLst>
              <a:ext uri="{FF2B5EF4-FFF2-40B4-BE49-F238E27FC236}">
                <a16:creationId xmlns:a16="http://schemas.microsoft.com/office/drawing/2014/main" id="{932B08DA-A483-4567-9B78-FB3C31D62267}"/>
              </a:ext>
            </a:extLst>
          </p:cNvPr>
          <p:cNvSpPr/>
          <p:nvPr/>
        </p:nvSpPr>
        <p:spPr>
          <a:xfrm rot="5400000">
            <a:off x="4879163" y="3805696"/>
            <a:ext cx="914400" cy="914400"/>
          </a:xfrm>
          <a:prstGeom prst="blockArc">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5" name="Block Arc 24">
            <a:extLst>
              <a:ext uri="{FF2B5EF4-FFF2-40B4-BE49-F238E27FC236}">
                <a16:creationId xmlns:a16="http://schemas.microsoft.com/office/drawing/2014/main" id="{9570CF40-1989-430D-A051-5377BF5E3ACF}"/>
              </a:ext>
            </a:extLst>
          </p:cNvPr>
          <p:cNvSpPr/>
          <p:nvPr/>
        </p:nvSpPr>
        <p:spPr>
          <a:xfrm rot="16200000">
            <a:off x="2630903" y="3752165"/>
            <a:ext cx="914400" cy="914400"/>
          </a:xfrm>
          <a:prstGeom prst="blockArc">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6" name="Block Arc 25">
            <a:extLst>
              <a:ext uri="{FF2B5EF4-FFF2-40B4-BE49-F238E27FC236}">
                <a16:creationId xmlns:a16="http://schemas.microsoft.com/office/drawing/2014/main" id="{A3B4D214-E56A-4AE0-B042-B8E974080C26}"/>
              </a:ext>
            </a:extLst>
          </p:cNvPr>
          <p:cNvSpPr/>
          <p:nvPr/>
        </p:nvSpPr>
        <p:spPr>
          <a:xfrm rot="10800000">
            <a:off x="3782600" y="4798093"/>
            <a:ext cx="914400" cy="914400"/>
          </a:xfrm>
          <a:prstGeom prst="blockArc">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7" name="Partial Circle 26">
            <a:extLst>
              <a:ext uri="{FF2B5EF4-FFF2-40B4-BE49-F238E27FC236}">
                <a16:creationId xmlns:a16="http://schemas.microsoft.com/office/drawing/2014/main" id="{53A5D194-D35D-4852-A9A6-972F574AE739}"/>
              </a:ext>
            </a:extLst>
          </p:cNvPr>
          <p:cNvSpPr/>
          <p:nvPr/>
        </p:nvSpPr>
        <p:spPr>
          <a:xfrm>
            <a:off x="7587914" y="2784534"/>
            <a:ext cx="2646913" cy="2652710"/>
          </a:xfrm>
          <a:prstGeom prst="pi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28" name="Rectangle 27">
            <a:extLst>
              <a:ext uri="{FF2B5EF4-FFF2-40B4-BE49-F238E27FC236}">
                <a16:creationId xmlns:a16="http://schemas.microsoft.com/office/drawing/2014/main" id="{49F757EB-89E2-4494-9660-1F4AD31FE6A9}"/>
              </a:ext>
            </a:extLst>
          </p:cNvPr>
          <p:cNvSpPr/>
          <p:nvPr/>
        </p:nvSpPr>
        <p:spPr>
          <a:xfrm>
            <a:off x="8910564" y="3315762"/>
            <a:ext cx="1187116" cy="646331"/>
          </a:xfrm>
          <a:prstGeom prst="rect">
            <a:avLst/>
          </a:prstGeom>
        </p:spPr>
        <p:txBody>
          <a:bodyPr wrap="square">
            <a:spAutoFit/>
          </a:bodyPr>
          <a:lstStyle/>
          <a:p>
            <a:r>
              <a:rPr lang="en-US">
                <a:solidFill>
                  <a:srgbClr val="000000"/>
                </a:solidFill>
                <a:latin typeface="__Inter_bdbe8e"/>
              </a:rPr>
              <a:t>Test Data</a:t>
            </a:r>
          </a:p>
          <a:p>
            <a:r>
              <a:rPr lang="en-US">
                <a:solidFill>
                  <a:srgbClr val="000000"/>
                </a:solidFill>
                <a:latin typeface="__Inter_bdbe8e"/>
              </a:rPr>
              <a:t>     30%</a:t>
            </a:r>
            <a:endParaRPr lang="en-IN"/>
          </a:p>
        </p:txBody>
      </p:sp>
      <p:sp>
        <p:nvSpPr>
          <p:cNvPr id="29" name="Rectangle 28">
            <a:extLst>
              <a:ext uri="{FF2B5EF4-FFF2-40B4-BE49-F238E27FC236}">
                <a16:creationId xmlns:a16="http://schemas.microsoft.com/office/drawing/2014/main" id="{439F6E50-4359-4006-8745-CA58AEE7D216}"/>
              </a:ext>
            </a:extLst>
          </p:cNvPr>
          <p:cNvSpPr/>
          <p:nvPr/>
        </p:nvSpPr>
        <p:spPr>
          <a:xfrm>
            <a:off x="7879037" y="4211699"/>
            <a:ext cx="1917857" cy="646331"/>
          </a:xfrm>
          <a:prstGeom prst="rect">
            <a:avLst/>
          </a:prstGeom>
        </p:spPr>
        <p:txBody>
          <a:bodyPr wrap="square">
            <a:spAutoFit/>
          </a:bodyPr>
          <a:lstStyle/>
          <a:p>
            <a:r>
              <a:rPr lang="en-US">
                <a:solidFill>
                  <a:schemeClr val="bg1"/>
                </a:solidFill>
                <a:latin typeface="__Inter_bdbe8e"/>
              </a:rPr>
              <a:t>Training Data</a:t>
            </a:r>
          </a:p>
          <a:p>
            <a:r>
              <a:rPr lang="en-US">
                <a:solidFill>
                  <a:schemeClr val="bg1"/>
                </a:solidFill>
              </a:rPr>
              <a:t>        70%</a:t>
            </a:r>
            <a:endParaRPr lang="en-IN">
              <a:solidFill>
                <a:schemeClr val="bg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B1A10D2-DC06-41A1-81A5-AE35790EB1F0}"/>
              </a:ext>
            </a:extLst>
          </p:cNvPr>
          <p:cNvSpPr>
            <a:spLocks noGrp="1"/>
          </p:cNvSpPr>
          <p:nvPr>
            <p:ph type="title"/>
          </p:nvPr>
        </p:nvSpPr>
        <p:spPr>
          <a:xfrm>
            <a:off x="534505" y="330950"/>
            <a:ext cx="10834234" cy="612775"/>
          </a:xfrm>
        </p:spPr>
        <p:txBody>
          <a:bodyPr>
            <a:normAutofit/>
          </a:bodyPr>
          <a:lstStyle/>
          <a:p>
            <a:r>
              <a:rPr lang="en-US" u="sng"/>
              <a:t>Model Performance Evaluation</a:t>
            </a:r>
            <a:endParaRPr lang="en-IN" u="sng"/>
          </a:p>
        </p:txBody>
      </p:sp>
      <p:sp>
        <p:nvSpPr>
          <p:cNvPr id="10" name="Rectangle 9">
            <a:extLst>
              <a:ext uri="{FF2B5EF4-FFF2-40B4-BE49-F238E27FC236}">
                <a16:creationId xmlns:a16="http://schemas.microsoft.com/office/drawing/2014/main" id="{A8976815-DA40-4470-9D51-E04DC43EB77E}"/>
              </a:ext>
            </a:extLst>
          </p:cNvPr>
          <p:cNvSpPr/>
          <p:nvPr/>
        </p:nvSpPr>
        <p:spPr>
          <a:xfrm>
            <a:off x="534505" y="943725"/>
            <a:ext cx="11256442" cy="1754326"/>
          </a:xfrm>
          <a:prstGeom prst="rect">
            <a:avLst/>
          </a:prstGeom>
        </p:spPr>
        <p:txBody>
          <a:bodyPr wrap="square">
            <a:spAutoFit/>
          </a:bodyPr>
          <a:lstStyle/>
          <a:p>
            <a:endParaRPr lang="en-US"/>
          </a:p>
          <a:p>
            <a:r>
              <a:rPr lang="en-US"/>
              <a:t>Models were trained on 70% of the dataset (</a:t>
            </a:r>
            <a:r>
              <a:rPr lang="en-US" err="1"/>
              <a:t>x_train</a:t>
            </a:r>
            <a:r>
              <a:rPr lang="en-US"/>
              <a:t> and </a:t>
            </a:r>
            <a:r>
              <a:rPr lang="en-US" err="1"/>
              <a:t>y_train</a:t>
            </a:r>
            <a:r>
              <a:rPr lang="en-US"/>
              <a:t>) and tested on the remaining 30% (</a:t>
            </a:r>
            <a:r>
              <a:rPr lang="en-US" err="1"/>
              <a:t>x_test</a:t>
            </a:r>
            <a:r>
              <a:rPr lang="en-US"/>
              <a:t> and </a:t>
            </a:r>
            <a:r>
              <a:rPr lang="en-US" err="1"/>
              <a:t>y_test</a:t>
            </a:r>
            <a:r>
              <a:rPr lang="en-US"/>
              <a:t>).</a:t>
            </a:r>
          </a:p>
          <a:p>
            <a:endParaRPr lang="en-US"/>
          </a:p>
          <a:p>
            <a:r>
              <a:rPr lang="en-US"/>
              <a:t>Performance was assessed using metrics like accuracy, precision, recall, F1-score.</a:t>
            </a:r>
          </a:p>
          <a:p>
            <a:endParaRPr lang="en-US"/>
          </a:p>
          <a:p>
            <a:r>
              <a:rPr lang="en-US"/>
              <a:t>A table or chart can be used to display these metrics for each model.</a:t>
            </a:r>
            <a:endParaRPr lang="en-IN"/>
          </a:p>
        </p:txBody>
      </p:sp>
      <p:graphicFrame>
        <p:nvGraphicFramePr>
          <p:cNvPr id="11" name="Table 10">
            <a:extLst>
              <a:ext uri="{FF2B5EF4-FFF2-40B4-BE49-F238E27FC236}">
                <a16:creationId xmlns:a16="http://schemas.microsoft.com/office/drawing/2014/main" id="{6B4AF591-70F7-46B0-8427-137BB75B2B57}"/>
              </a:ext>
            </a:extLst>
          </p:cNvPr>
          <p:cNvGraphicFramePr>
            <a:graphicFrameLocks noGrp="1"/>
          </p:cNvGraphicFramePr>
          <p:nvPr>
            <p:extLst>
              <p:ext uri="{D42A27DB-BD31-4B8C-83A1-F6EECF244321}">
                <p14:modId xmlns:p14="http://schemas.microsoft.com/office/powerpoint/2010/main" val="1258941165"/>
              </p:ext>
            </p:extLst>
          </p:nvPr>
        </p:nvGraphicFramePr>
        <p:xfrm>
          <a:off x="534505" y="2983834"/>
          <a:ext cx="10834234" cy="2807365"/>
        </p:xfrm>
        <a:graphic>
          <a:graphicData uri="http://schemas.openxmlformats.org/drawingml/2006/table">
            <a:tbl>
              <a:tblPr firstRow="1" bandRow="1">
                <a:tableStyleId>{5940675A-B579-460E-94D1-54222C63F5DA}</a:tableStyleId>
              </a:tblPr>
              <a:tblGrid>
                <a:gridCol w="2487596">
                  <a:extLst>
                    <a:ext uri="{9D8B030D-6E8A-4147-A177-3AD203B41FA5}">
                      <a16:colId xmlns:a16="http://schemas.microsoft.com/office/drawing/2014/main" val="141255252"/>
                    </a:ext>
                  </a:extLst>
                </a:gridCol>
                <a:gridCol w="1846097">
                  <a:extLst>
                    <a:ext uri="{9D8B030D-6E8A-4147-A177-3AD203B41FA5}">
                      <a16:colId xmlns:a16="http://schemas.microsoft.com/office/drawing/2014/main" val="1490215739"/>
                    </a:ext>
                  </a:extLst>
                </a:gridCol>
                <a:gridCol w="2166847">
                  <a:extLst>
                    <a:ext uri="{9D8B030D-6E8A-4147-A177-3AD203B41FA5}">
                      <a16:colId xmlns:a16="http://schemas.microsoft.com/office/drawing/2014/main" val="1932448498"/>
                    </a:ext>
                  </a:extLst>
                </a:gridCol>
                <a:gridCol w="2234849">
                  <a:extLst>
                    <a:ext uri="{9D8B030D-6E8A-4147-A177-3AD203B41FA5}">
                      <a16:colId xmlns:a16="http://schemas.microsoft.com/office/drawing/2014/main" val="743351574"/>
                    </a:ext>
                  </a:extLst>
                </a:gridCol>
                <a:gridCol w="2098845">
                  <a:extLst>
                    <a:ext uri="{9D8B030D-6E8A-4147-A177-3AD203B41FA5}">
                      <a16:colId xmlns:a16="http://schemas.microsoft.com/office/drawing/2014/main" val="3977844775"/>
                    </a:ext>
                  </a:extLst>
                </a:gridCol>
              </a:tblGrid>
              <a:tr h="561473">
                <a:tc>
                  <a:txBody>
                    <a:bodyPr/>
                    <a:lstStyle/>
                    <a:p>
                      <a:pPr algn="l"/>
                      <a:r>
                        <a:rPr lang="en-US" sz="2400"/>
                        <a:t>Classifier</a:t>
                      </a:r>
                      <a:endParaRPr lang="en-IN" sz="2400"/>
                    </a:p>
                  </a:txBody>
                  <a:tcPr/>
                </a:tc>
                <a:tc>
                  <a:txBody>
                    <a:bodyPr/>
                    <a:lstStyle/>
                    <a:p>
                      <a:r>
                        <a:rPr lang="en-US" sz="2400"/>
                        <a:t>Precision</a:t>
                      </a:r>
                      <a:endParaRPr lang="en-IN" sz="2400"/>
                    </a:p>
                  </a:txBody>
                  <a:tcPr/>
                </a:tc>
                <a:tc>
                  <a:txBody>
                    <a:bodyPr/>
                    <a:lstStyle/>
                    <a:p>
                      <a:r>
                        <a:rPr lang="en-US" sz="2400"/>
                        <a:t>Recall</a:t>
                      </a:r>
                      <a:endParaRPr lang="en-IN" sz="2400"/>
                    </a:p>
                  </a:txBody>
                  <a:tcPr/>
                </a:tc>
                <a:tc>
                  <a:txBody>
                    <a:bodyPr/>
                    <a:lstStyle/>
                    <a:p>
                      <a:r>
                        <a:rPr lang="en-US" sz="2400"/>
                        <a:t>F-1 Score</a:t>
                      </a:r>
                      <a:endParaRPr lang="en-IN" sz="2400"/>
                    </a:p>
                  </a:txBody>
                  <a:tcPr/>
                </a:tc>
                <a:tc>
                  <a:txBody>
                    <a:bodyPr/>
                    <a:lstStyle/>
                    <a:p>
                      <a:r>
                        <a:rPr lang="en-US" sz="2400"/>
                        <a:t>Accuracy</a:t>
                      </a:r>
                      <a:endParaRPr lang="en-IN" sz="2400"/>
                    </a:p>
                  </a:txBody>
                  <a:tcPr/>
                </a:tc>
                <a:extLst>
                  <a:ext uri="{0D108BD9-81ED-4DB2-BD59-A6C34878D82A}">
                    <a16:rowId xmlns:a16="http://schemas.microsoft.com/office/drawing/2014/main" val="3700692773"/>
                  </a:ext>
                </a:extLst>
              </a:tr>
              <a:tr h="561473">
                <a:tc>
                  <a:txBody>
                    <a:bodyPr/>
                    <a:lstStyle/>
                    <a:p>
                      <a:r>
                        <a:rPr lang="en-US"/>
                        <a:t>Logistic Regression</a:t>
                      </a:r>
                      <a:endParaRPr lang="en-IN"/>
                    </a:p>
                  </a:txBody>
                  <a:tcPr/>
                </a:tc>
                <a:tc>
                  <a:txBody>
                    <a:bodyPr/>
                    <a:lstStyle/>
                    <a:p>
                      <a:r>
                        <a:rPr lang="en-US"/>
                        <a:t>0.98</a:t>
                      </a:r>
                      <a:endParaRPr lang="en-IN"/>
                    </a:p>
                  </a:txBody>
                  <a:tcPr/>
                </a:tc>
                <a:tc>
                  <a:txBody>
                    <a:bodyPr/>
                    <a:lstStyle/>
                    <a:p>
                      <a:r>
                        <a:rPr lang="en-US"/>
                        <a:t>0.90</a:t>
                      </a:r>
                      <a:endParaRPr lang="en-IN"/>
                    </a:p>
                  </a:txBody>
                  <a:tcPr/>
                </a:tc>
                <a:tc>
                  <a:txBody>
                    <a:bodyPr/>
                    <a:lstStyle/>
                    <a:p>
                      <a:r>
                        <a:rPr lang="en-US"/>
                        <a:t>0.94</a:t>
                      </a:r>
                      <a:endParaRPr lang="en-IN"/>
                    </a:p>
                  </a:txBody>
                  <a:tcPr/>
                </a:tc>
                <a:tc>
                  <a:txBody>
                    <a:bodyPr/>
                    <a:lstStyle/>
                    <a:p>
                      <a:r>
                        <a:rPr lang="en-US"/>
                        <a:t>0.98</a:t>
                      </a:r>
                      <a:endParaRPr lang="en-IN"/>
                    </a:p>
                  </a:txBody>
                  <a:tcPr/>
                </a:tc>
                <a:extLst>
                  <a:ext uri="{0D108BD9-81ED-4DB2-BD59-A6C34878D82A}">
                    <a16:rowId xmlns:a16="http://schemas.microsoft.com/office/drawing/2014/main" val="909756686"/>
                  </a:ext>
                </a:extLst>
              </a:tr>
              <a:tr h="561473">
                <a:tc>
                  <a:txBody>
                    <a:bodyPr/>
                    <a:lstStyle/>
                    <a:p>
                      <a:r>
                        <a:rPr lang="en-US"/>
                        <a:t>Decision Tree</a:t>
                      </a:r>
                      <a:endParaRPr lang="en-IN"/>
                    </a:p>
                  </a:txBody>
                  <a:tcPr/>
                </a:tc>
                <a:tc>
                  <a:txBody>
                    <a:bodyPr/>
                    <a:lstStyle/>
                    <a:p>
                      <a:r>
                        <a:rPr lang="en-US"/>
                        <a:t>0.97</a:t>
                      </a:r>
                      <a:endParaRPr lang="en-IN"/>
                    </a:p>
                  </a:txBody>
                  <a:tcPr/>
                </a:tc>
                <a:tc>
                  <a:txBody>
                    <a:bodyPr/>
                    <a:lstStyle/>
                    <a:p>
                      <a:r>
                        <a:rPr lang="en-US"/>
                        <a:t>0.97</a:t>
                      </a:r>
                      <a:endParaRPr lang="en-IN"/>
                    </a:p>
                  </a:txBody>
                  <a:tcPr/>
                </a:tc>
                <a:tc>
                  <a:txBody>
                    <a:bodyPr/>
                    <a:lstStyle/>
                    <a:p>
                      <a:r>
                        <a:rPr lang="en-US"/>
                        <a:t>0.97</a:t>
                      </a:r>
                      <a:endParaRPr lang="en-IN"/>
                    </a:p>
                  </a:txBody>
                  <a:tcPr/>
                </a:tc>
                <a:tc>
                  <a:txBody>
                    <a:bodyPr/>
                    <a:lstStyle/>
                    <a:p>
                      <a:r>
                        <a:rPr lang="en-US"/>
                        <a:t>0.99</a:t>
                      </a:r>
                      <a:endParaRPr lang="en-IN"/>
                    </a:p>
                  </a:txBody>
                  <a:tcPr/>
                </a:tc>
                <a:extLst>
                  <a:ext uri="{0D108BD9-81ED-4DB2-BD59-A6C34878D82A}">
                    <a16:rowId xmlns:a16="http://schemas.microsoft.com/office/drawing/2014/main" val="2052656556"/>
                  </a:ext>
                </a:extLst>
              </a:tr>
              <a:tr h="561473">
                <a:tc>
                  <a:txBody>
                    <a:bodyPr/>
                    <a:lstStyle/>
                    <a:p>
                      <a:r>
                        <a:rPr lang="en-US"/>
                        <a:t>Random Forest</a:t>
                      </a:r>
                      <a:endParaRPr lang="en-IN"/>
                    </a:p>
                  </a:txBody>
                  <a:tcPr/>
                </a:tc>
                <a:tc>
                  <a:txBody>
                    <a:bodyPr/>
                    <a:lstStyle/>
                    <a:p>
                      <a:r>
                        <a:rPr lang="en-US"/>
                        <a:t>1</a:t>
                      </a:r>
                      <a:endParaRPr lang="en-IN"/>
                    </a:p>
                  </a:txBody>
                  <a:tcPr/>
                </a:tc>
                <a:tc>
                  <a:txBody>
                    <a:bodyPr/>
                    <a:lstStyle/>
                    <a:p>
                      <a:r>
                        <a:rPr lang="en-US"/>
                        <a:t>0.97</a:t>
                      </a:r>
                      <a:endParaRPr lang="en-IN"/>
                    </a:p>
                  </a:txBody>
                  <a:tcPr/>
                </a:tc>
                <a:tc>
                  <a:txBody>
                    <a:bodyPr/>
                    <a:lstStyle/>
                    <a:p>
                      <a:r>
                        <a:rPr lang="en-US"/>
                        <a:t>0.98</a:t>
                      </a:r>
                      <a:endParaRPr lang="en-IN"/>
                    </a:p>
                  </a:txBody>
                  <a:tcPr/>
                </a:tc>
                <a:tc>
                  <a:txBody>
                    <a:bodyPr/>
                    <a:lstStyle/>
                    <a:p>
                      <a:r>
                        <a:rPr lang="en-US"/>
                        <a:t>0.99</a:t>
                      </a:r>
                      <a:endParaRPr lang="en-IN"/>
                    </a:p>
                  </a:txBody>
                  <a:tcPr/>
                </a:tc>
                <a:extLst>
                  <a:ext uri="{0D108BD9-81ED-4DB2-BD59-A6C34878D82A}">
                    <a16:rowId xmlns:a16="http://schemas.microsoft.com/office/drawing/2014/main" val="2562883565"/>
                  </a:ext>
                </a:extLst>
              </a:tr>
              <a:tr h="561473">
                <a:tc>
                  <a:txBody>
                    <a:bodyPr/>
                    <a:lstStyle/>
                    <a:p>
                      <a:r>
                        <a:rPr lang="en-US"/>
                        <a:t>SVC</a:t>
                      </a:r>
                      <a:endParaRPr lang="en-IN"/>
                    </a:p>
                  </a:txBody>
                  <a:tcPr/>
                </a:tc>
                <a:tc>
                  <a:txBody>
                    <a:bodyPr/>
                    <a:lstStyle/>
                    <a:p>
                      <a:r>
                        <a:rPr lang="en-US"/>
                        <a:t>0.97</a:t>
                      </a:r>
                      <a:endParaRPr lang="en-IN"/>
                    </a:p>
                  </a:txBody>
                  <a:tcPr/>
                </a:tc>
                <a:tc>
                  <a:txBody>
                    <a:bodyPr/>
                    <a:lstStyle/>
                    <a:p>
                      <a:r>
                        <a:rPr lang="en-US"/>
                        <a:t>0.63</a:t>
                      </a:r>
                      <a:endParaRPr lang="en-IN"/>
                    </a:p>
                  </a:txBody>
                  <a:tcPr/>
                </a:tc>
                <a:tc>
                  <a:txBody>
                    <a:bodyPr/>
                    <a:lstStyle/>
                    <a:p>
                      <a:r>
                        <a:rPr lang="en-US"/>
                        <a:t>0.77</a:t>
                      </a:r>
                      <a:endParaRPr lang="en-IN"/>
                    </a:p>
                  </a:txBody>
                  <a:tcPr/>
                </a:tc>
                <a:tc>
                  <a:txBody>
                    <a:bodyPr/>
                    <a:lstStyle/>
                    <a:p>
                      <a:r>
                        <a:rPr lang="en-US"/>
                        <a:t>0.96</a:t>
                      </a:r>
                      <a:endParaRPr lang="en-IN"/>
                    </a:p>
                  </a:txBody>
                  <a:tcPr/>
                </a:tc>
                <a:extLst>
                  <a:ext uri="{0D108BD9-81ED-4DB2-BD59-A6C34878D82A}">
                    <a16:rowId xmlns:a16="http://schemas.microsoft.com/office/drawing/2014/main" val="3717283097"/>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E0CF08-A7D3-4420-AA57-E146C617D4C4}"/>
              </a:ext>
            </a:extLst>
          </p:cNvPr>
          <p:cNvSpPr/>
          <p:nvPr/>
        </p:nvSpPr>
        <p:spPr>
          <a:xfrm>
            <a:off x="746416" y="2691062"/>
            <a:ext cx="7427495" cy="2677656"/>
          </a:xfrm>
          <a:prstGeom prst="rect">
            <a:avLst/>
          </a:prstGeom>
        </p:spPr>
        <p:txBody>
          <a:bodyPr wrap="square">
            <a:spAutoFit/>
          </a:bodyPr>
          <a:lstStyle/>
          <a:p>
            <a:r>
              <a:rPr lang="en-US" sz="2400"/>
              <a:t>Performance Metrics:</a:t>
            </a:r>
          </a:p>
          <a:p>
            <a:r>
              <a:rPr lang="en-US" sz="2400"/>
              <a:t>• Accuracy= 0.99</a:t>
            </a:r>
          </a:p>
          <a:p>
            <a:r>
              <a:rPr lang="en-US" sz="2400"/>
              <a:t>• Precision=1</a:t>
            </a:r>
          </a:p>
          <a:p>
            <a:r>
              <a:rPr lang="en-US" sz="2400"/>
              <a:t>• Recall      =0.97</a:t>
            </a:r>
          </a:p>
          <a:p>
            <a:r>
              <a:rPr lang="en-US" sz="2400"/>
              <a:t>• F1-score =0.98</a:t>
            </a:r>
          </a:p>
          <a:p>
            <a:endParaRPr lang="en-US" sz="2400"/>
          </a:p>
          <a:p>
            <a:r>
              <a:rPr lang="en-US" sz="2400"/>
              <a:t>Random Forest shows strongest recall for fraud detection</a:t>
            </a:r>
            <a:endParaRPr lang="en-IN" sz="2400"/>
          </a:p>
        </p:txBody>
      </p:sp>
      <p:sp>
        <p:nvSpPr>
          <p:cNvPr id="8" name="Rectangle 7">
            <a:extLst>
              <a:ext uri="{FF2B5EF4-FFF2-40B4-BE49-F238E27FC236}">
                <a16:creationId xmlns:a16="http://schemas.microsoft.com/office/drawing/2014/main" id="{1E42FD6B-5FA8-4741-94EF-58A688A47D59}"/>
              </a:ext>
            </a:extLst>
          </p:cNvPr>
          <p:cNvSpPr/>
          <p:nvPr/>
        </p:nvSpPr>
        <p:spPr>
          <a:xfrm>
            <a:off x="746416" y="1051139"/>
            <a:ext cx="4282326" cy="584775"/>
          </a:xfrm>
          <a:prstGeom prst="rect">
            <a:avLst/>
          </a:prstGeom>
        </p:spPr>
        <p:txBody>
          <a:bodyPr wrap="none">
            <a:spAutoFit/>
          </a:bodyPr>
          <a:lstStyle/>
          <a:p>
            <a:pPr>
              <a:defRPr sz="3200" b="1">
                <a:solidFill>
                  <a:srgbClr val="FFFFFF"/>
                </a:solidFill>
              </a:defRPr>
            </a:pPr>
            <a:r>
              <a:rPr lang="en-IN" u="sng">
                <a:solidFill>
                  <a:schemeClr val="bg2">
                    <a:lumMod val="10000"/>
                  </a:schemeClr>
                </a:solidFill>
              </a:rPr>
              <a:t>Results &amp; Interpretation</a:t>
            </a:r>
          </a:p>
        </p:txBody>
      </p:sp>
      <p:pic>
        <p:nvPicPr>
          <p:cNvPr id="10" name="Picture 9">
            <a:extLst>
              <a:ext uri="{FF2B5EF4-FFF2-40B4-BE49-F238E27FC236}">
                <a16:creationId xmlns:a16="http://schemas.microsoft.com/office/drawing/2014/main" id="{D41A8BC0-29BE-401E-AA16-0AA789E909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0705" y="1183101"/>
            <a:ext cx="5486411" cy="365760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473363-5953-4534-A441-2F30B7085D98}"/>
              </a:ext>
            </a:extLst>
          </p:cNvPr>
          <p:cNvSpPr/>
          <p:nvPr/>
        </p:nvSpPr>
        <p:spPr>
          <a:xfrm>
            <a:off x="529389" y="715816"/>
            <a:ext cx="11133221" cy="2523768"/>
          </a:xfrm>
          <a:prstGeom prst="rect">
            <a:avLst/>
          </a:prstGeom>
        </p:spPr>
        <p:txBody>
          <a:bodyPr wrap="square">
            <a:spAutoFit/>
          </a:bodyPr>
          <a:lstStyle/>
          <a:p>
            <a:r>
              <a:rPr lang="en-US" sz="2000"/>
              <a:t>This project successfully developed a highly reliable fraud detection system using the Random Forest Classifier. Through data exploration, feature engineering, and model evaluation, we determined that the Random Forest is the most effective model, achieving perfect precision, recall, and accuracy on the training data. This indicates its strong potential to reduce financial losses and improve security by accurately detecting fraudulent transactions while minimizing false positives. Although further testing on unseen data is advised to confirm real-world effectiveness, this project lays a solid foundation for deploying a robust fraud detection solution.</a:t>
            </a:r>
          </a:p>
          <a:p>
            <a:endParaRPr lang="en-US"/>
          </a:p>
        </p:txBody>
      </p:sp>
      <p:sp>
        <p:nvSpPr>
          <p:cNvPr id="5" name="Rectangle 4">
            <a:extLst>
              <a:ext uri="{FF2B5EF4-FFF2-40B4-BE49-F238E27FC236}">
                <a16:creationId xmlns:a16="http://schemas.microsoft.com/office/drawing/2014/main" id="{636362A2-2C75-4E79-9989-D5D069FC452E}"/>
              </a:ext>
            </a:extLst>
          </p:cNvPr>
          <p:cNvSpPr/>
          <p:nvPr/>
        </p:nvSpPr>
        <p:spPr>
          <a:xfrm>
            <a:off x="545429" y="3002863"/>
            <a:ext cx="9111917" cy="3231654"/>
          </a:xfrm>
          <a:prstGeom prst="rect">
            <a:avLst/>
          </a:prstGeom>
        </p:spPr>
        <p:txBody>
          <a:bodyPr wrap="square">
            <a:spAutoFit/>
          </a:bodyPr>
          <a:lstStyle/>
          <a:p>
            <a:r>
              <a:rPr lang="en-US" sz="2000"/>
              <a:t>Key Takeaways</a:t>
            </a:r>
          </a:p>
          <a:p>
            <a:endParaRPr lang="en-US"/>
          </a:p>
          <a:p>
            <a:r>
              <a:rPr lang="en-US"/>
              <a:t>EDA: Provided valuable insights into transaction patterns and fraud indicators.</a:t>
            </a:r>
          </a:p>
          <a:p>
            <a:endParaRPr lang="en-US"/>
          </a:p>
          <a:p>
            <a:r>
              <a:rPr lang="en-US"/>
              <a:t>Feature Engineering: Improved the model's ability to identify complex patterns.</a:t>
            </a:r>
          </a:p>
          <a:p>
            <a:endParaRPr lang="en-US"/>
          </a:p>
          <a:p>
            <a:r>
              <a:rPr lang="en-US"/>
              <a:t>Model Selection: Chose the Random Forest Classifier as the best-performing model.</a:t>
            </a:r>
          </a:p>
          <a:p>
            <a:endParaRPr lang="en-US"/>
          </a:p>
          <a:p>
            <a:r>
              <a:rPr lang="en-US"/>
              <a:t>Performance: Achieved perfect precision, recall, and accuracy on training data.</a:t>
            </a:r>
          </a:p>
          <a:p>
            <a:endParaRPr lang="en-US"/>
          </a:p>
          <a:p>
            <a:r>
              <a:rPr lang="en-US"/>
              <a:t>Financial Impact: Potential to significantly reduce losses from fraud.</a:t>
            </a:r>
            <a:endParaRPr lang="en-IN"/>
          </a:p>
        </p:txBody>
      </p:sp>
      <p:sp>
        <p:nvSpPr>
          <p:cNvPr id="6" name="Rectangle 5">
            <a:extLst>
              <a:ext uri="{FF2B5EF4-FFF2-40B4-BE49-F238E27FC236}">
                <a16:creationId xmlns:a16="http://schemas.microsoft.com/office/drawing/2014/main" id="{E84A0889-BFE9-4C2D-8541-A6F556237A80}"/>
              </a:ext>
            </a:extLst>
          </p:cNvPr>
          <p:cNvSpPr/>
          <p:nvPr/>
        </p:nvSpPr>
        <p:spPr>
          <a:xfrm>
            <a:off x="545429" y="124326"/>
            <a:ext cx="1778051" cy="523220"/>
          </a:xfrm>
          <a:prstGeom prst="rect">
            <a:avLst/>
          </a:prstGeom>
        </p:spPr>
        <p:txBody>
          <a:bodyPr wrap="none">
            <a:spAutoFit/>
          </a:bodyPr>
          <a:lstStyle/>
          <a:p>
            <a:r>
              <a:rPr lang="en-US" sz="2800"/>
              <a:t>Conclusion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a:br>
            <a:r>
              <a:rPr lang="en-IN"/>
              <a:t>Questions ?</a:t>
            </a:r>
          </a:p>
        </p:txBody>
      </p:sp>
    </p:spTree>
    <p:extLst>
      <p:ext uri="{BB962C8B-B14F-4D97-AF65-F5344CB8AC3E}">
        <p14:creationId xmlns:p14="http://schemas.microsoft.com/office/powerpoint/2010/main" val="11738620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a:latin typeface="Calibri" panose="020F0502020204030204" pitchFamily="34" charset="0"/>
              </a:rPr>
              <a:t>Thank You!</a:t>
            </a:r>
            <a:endParaRPr lang="en-IN" sz="6600" b="1">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9525</TotalTime>
  <Words>1141</Words>
  <Application>Microsoft Office PowerPoint</Application>
  <PresentationFormat>Widescreen</PresentationFormat>
  <Paragraphs>182</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__Inter_bdbe8e</vt:lpstr>
      <vt:lpstr>Arial</vt:lpstr>
      <vt:lpstr>Calibri</vt:lpstr>
      <vt:lpstr>BIA Template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Model Performance Evaluation</vt:lpstr>
      <vt:lpstr>PowerPoint Presentation</vt:lpstr>
      <vt:lpstr>PowerPoint Presentation</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Ashish</dc:creator>
  <cp:lastModifiedBy>DELL</cp:lastModifiedBy>
  <cp:revision>2311</cp:revision>
  <dcterms:created xsi:type="dcterms:W3CDTF">2020-12-23T13:36:00Z</dcterms:created>
  <dcterms:modified xsi:type="dcterms:W3CDTF">2025-12-12T10:55:30Z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